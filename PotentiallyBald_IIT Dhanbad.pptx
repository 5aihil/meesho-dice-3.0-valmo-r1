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Canva Sans" charset="1" panose="020B0503030501040103"/>
      <p:regular r:id="rId10"/>
    </p:embeddedFont>
    <p:embeddedFont>
      <p:font typeface="Canva Sans Bold" charset="1" panose="020B0803030501040103"/>
      <p:regular r:id="rId11"/>
    </p:embeddedFont>
    <p:embeddedFont>
      <p:font typeface="DM Sans Bold" charset="1" panose="00000000000000000000"/>
      <p:regular r:id="rId12"/>
    </p:embeddedFont>
    <p:embeddedFont>
      <p:font typeface="Canva Sans Bold Italics" charset="1" panose="020B0803030501040103"/>
      <p:regular r:id="rId13"/>
    </p:embeddedFont>
    <p:embeddedFont>
      <p:font typeface="Canva Sans Italics" charset="1" panose="020B0503030501040103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2" Target="../media/image7.png" Type="http://schemas.openxmlformats.org/officeDocument/2006/relationships/image"/><Relationship Id="rId3" Target="../media/image6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6.pn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embeddings/oleObject1.bin" Type="http://schemas.openxmlformats.org/officeDocument/2006/relationships/oleObjec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svg" Type="http://schemas.openxmlformats.org/officeDocument/2006/relationships/image"/><Relationship Id="rId11" Target="../media/image25.png" Type="http://schemas.openxmlformats.org/officeDocument/2006/relationships/image"/><Relationship Id="rId2" Target="../media/image7.png" Type="http://schemas.openxmlformats.org/officeDocument/2006/relationships/image"/><Relationship Id="rId3" Target="../media/image6.pn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Relationship Id="rId9" Target="../media/image2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113997" y="8267978"/>
            <a:ext cx="4263818" cy="1510816"/>
            <a:chOff x="0" y="0"/>
            <a:chExt cx="5685091" cy="201442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7153" cy="587153"/>
            </a:xfrm>
            <a:custGeom>
              <a:avLst/>
              <a:gdLst/>
              <a:ahLst/>
              <a:cxnLst/>
              <a:rect r="r" b="b" t="t" l="l"/>
              <a:pathLst>
                <a:path h="587153" w="587153">
                  <a:moveTo>
                    <a:pt x="0" y="0"/>
                  </a:moveTo>
                  <a:lnTo>
                    <a:pt x="587153" y="0"/>
                  </a:lnTo>
                  <a:lnTo>
                    <a:pt x="587153" y="587153"/>
                  </a:lnTo>
                  <a:lnTo>
                    <a:pt x="0" y="5871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714153"/>
              <a:ext cx="587153" cy="587153"/>
            </a:xfrm>
            <a:custGeom>
              <a:avLst/>
              <a:gdLst/>
              <a:ahLst/>
              <a:cxnLst/>
              <a:rect r="r" b="b" t="t" l="l"/>
              <a:pathLst>
                <a:path h="587153" w="587153">
                  <a:moveTo>
                    <a:pt x="0" y="0"/>
                  </a:moveTo>
                  <a:lnTo>
                    <a:pt x="587153" y="0"/>
                  </a:lnTo>
                  <a:lnTo>
                    <a:pt x="587153" y="587153"/>
                  </a:lnTo>
                  <a:lnTo>
                    <a:pt x="0" y="5871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1427268"/>
              <a:ext cx="587153" cy="587153"/>
            </a:xfrm>
            <a:custGeom>
              <a:avLst/>
              <a:gdLst/>
              <a:ahLst/>
              <a:cxnLst/>
              <a:rect r="r" b="b" t="t" l="l"/>
              <a:pathLst>
                <a:path h="587153" w="587153">
                  <a:moveTo>
                    <a:pt x="0" y="0"/>
                  </a:moveTo>
                  <a:lnTo>
                    <a:pt x="587153" y="0"/>
                  </a:lnTo>
                  <a:lnTo>
                    <a:pt x="587153" y="587153"/>
                  </a:lnTo>
                  <a:lnTo>
                    <a:pt x="0" y="5871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686053" y="39155"/>
              <a:ext cx="3629025" cy="5156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6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56054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Saket Kumar Singh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686053" y="727657"/>
              <a:ext cx="2699544" cy="5156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6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56054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Mayank Raj     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686053" y="1421077"/>
              <a:ext cx="4999038" cy="5156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6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56054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Sahil Bhavesh Choudhary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1101454" y="7315500"/>
            <a:ext cx="4987636" cy="2598298"/>
          </a:xfrm>
          <a:custGeom>
            <a:avLst/>
            <a:gdLst/>
            <a:ahLst/>
            <a:cxnLst/>
            <a:rect r="r" b="b" t="t" l="l"/>
            <a:pathLst>
              <a:path h="2598298" w="4987636">
                <a:moveTo>
                  <a:pt x="0" y="0"/>
                </a:moveTo>
                <a:lnTo>
                  <a:pt x="4987636" y="0"/>
                </a:lnTo>
                <a:lnTo>
                  <a:pt x="4987636" y="2598298"/>
                </a:lnTo>
                <a:lnTo>
                  <a:pt x="0" y="25982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-58365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224833" y="7646341"/>
            <a:ext cx="2307134" cy="3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FF9D0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PotentiallyBald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806476" y="7646341"/>
            <a:ext cx="2721769" cy="3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5605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IIT (ISM) Dhanbad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24833" y="6468822"/>
            <a:ext cx="13864257" cy="71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5605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</a:t>
            </a:r>
            <a:r>
              <a:rPr lang="en-US" b="true" sz="4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EDUCING RTO: GETTING MORE ORDERS DELIVERED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32862" y="6172278"/>
            <a:ext cx="2581643" cy="37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b="true">
                <a:solidFill>
                  <a:srgbClr val="5605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BUSINESS TRACK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4115145" y="8829146"/>
            <a:ext cx="680336" cy="255126"/>
          </a:xfrm>
          <a:custGeom>
            <a:avLst/>
            <a:gdLst/>
            <a:ahLst/>
            <a:cxnLst/>
            <a:rect r="r" b="b" t="t" l="l"/>
            <a:pathLst>
              <a:path h="255126" w="680336">
                <a:moveTo>
                  <a:pt x="0" y="0"/>
                </a:moveTo>
                <a:lnTo>
                  <a:pt x="680336" y="0"/>
                </a:lnTo>
                <a:lnTo>
                  <a:pt x="680336" y="255126"/>
                </a:lnTo>
                <a:lnTo>
                  <a:pt x="0" y="25512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55422"/>
            <a:ext cx="18371126" cy="10597843"/>
          </a:xfrm>
          <a:custGeom>
            <a:avLst/>
            <a:gdLst/>
            <a:ahLst/>
            <a:cxnLst/>
            <a:rect r="r" b="b" t="t" l="l"/>
            <a:pathLst>
              <a:path h="10597843" w="18371126">
                <a:moveTo>
                  <a:pt x="0" y="0"/>
                </a:moveTo>
                <a:lnTo>
                  <a:pt x="18371126" y="0"/>
                </a:lnTo>
                <a:lnTo>
                  <a:pt x="18371126" y="10597844"/>
                </a:lnTo>
                <a:lnTo>
                  <a:pt x="0" y="105978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17000" y="464513"/>
            <a:ext cx="2719481" cy="1019805"/>
          </a:xfrm>
          <a:custGeom>
            <a:avLst/>
            <a:gdLst/>
            <a:ahLst/>
            <a:cxnLst/>
            <a:rect r="r" b="b" t="t" l="l"/>
            <a:pathLst>
              <a:path h="1019805" w="2719481">
                <a:moveTo>
                  <a:pt x="0" y="0"/>
                </a:moveTo>
                <a:lnTo>
                  <a:pt x="2719481" y="0"/>
                </a:lnTo>
                <a:lnTo>
                  <a:pt x="2719481" y="1019806"/>
                </a:lnTo>
                <a:lnTo>
                  <a:pt x="0" y="10198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0454" y="2121517"/>
            <a:ext cx="17947093" cy="7559159"/>
            <a:chOff x="0" y="0"/>
            <a:chExt cx="23929457" cy="1007887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706272" cy="5369095"/>
            </a:xfrm>
            <a:custGeom>
              <a:avLst/>
              <a:gdLst/>
              <a:ahLst/>
              <a:cxnLst/>
              <a:rect r="r" b="b" t="t" l="l"/>
              <a:pathLst>
                <a:path h="5369095" w="15706272">
                  <a:moveTo>
                    <a:pt x="0" y="0"/>
                  </a:moveTo>
                  <a:lnTo>
                    <a:pt x="15706272" y="0"/>
                  </a:lnTo>
                  <a:lnTo>
                    <a:pt x="15706272" y="5369095"/>
                  </a:lnTo>
                  <a:lnTo>
                    <a:pt x="0" y="53690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-149010"/>
              </a:stretch>
            </a:blipFill>
          </p:spPr>
        </p:sp>
        <p:grpSp>
          <p:nvGrpSpPr>
            <p:cNvPr name="Group 6" id="6"/>
            <p:cNvGrpSpPr/>
            <p:nvPr/>
          </p:nvGrpSpPr>
          <p:grpSpPr>
            <a:xfrm rot="0">
              <a:off x="15780887" y="69936"/>
              <a:ext cx="8148570" cy="5335073"/>
              <a:chOff x="0" y="0"/>
              <a:chExt cx="1609594" cy="1053842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609594" cy="1053842"/>
              </a:xfrm>
              <a:custGeom>
                <a:avLst/>
                <a:gdLst/>
                <a:ahLst/>
                <a:cxnLst/>
                <a:rect r="r" b="b" t="t" l="l"/>
                <a:pathLst>
                  <a:path h="1053842" w="1609594">
                    <a:moveTo>
                      <a:pt x="19002" y="0"/>
                    </a:moveTo>
                    <a:lnTo>
                      <a:pt x="1590592" y="0"/>
                    </a:lnTo>
                    <a:cubicBezTo>
                      <a:pt x="1595632" y="0"/>
                      <a:pt x="1600465" y="2002"/>
                      <a:pt x="1604029" y="5566"/>
                    </a:cubicBezTo>
                    <a:cubicBezTo>
                      <a:pt x="1607592" y="9129"/>
                      <a:pt x="1609594" y="13962"/>
                      <a:pt x="1609594" y="19002"/>
                    </a:cubicBezTo>
                    <a:lnTo>
                      <a:pt x="1609594" y="1034840"/>
                    </a:lnTo>
                    <a:cubicBezTo>
                      <a:pt x="1609594" y="1045334"/>
                      <a:pt x="1601087" y="1053842"/>
                      <a:pt x="1590592" y="1053842"/>
                    </a:cubicBezTo>
                    <a:lnTo>
                      <a:pt x="19002" y="1053842"/>
                    </a:lnTo>
                    <a:cubicBezTo>
                      <a:pt x="13962" y="1053842"/>
                      <a:pt x="9129" y="1051840"/>
                      <a:pt x="5566" y="1048276"/>
                    </a:cubicBezTo>
                    <a:cubicBezTo>
                      <a:pt x="2002" y="1044712"/>
                      <a:pt x="0" y="1039879"/>
                      <a:pt x="0" y="1034840"/>
                    </a:cubicBezTo>
                    <a:lnTo>
                      <a:pt x="0" y="19002"/>
                    </a:lnTo>
                    <a:cubicBezTo>
                      <a:pt x="0" y="8507"/>
                      <a:pt x="8507" y="0"/>
                      <a:pt x="19002" y="0"/>
                    </a:cubicBezTo>
                    <a:close/>
                  </a:path>
                </a:pathLst>
              </a:custGeom>
              <a:solidFill>
                <a:srgbClr val="560547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609594" cy="109194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5940003" y="69936"/>
              <a:ext cx="7989454" cy="5229222"/>
            </a:xfrm>
            <a:custGeom>
              <a:avLst/>
              <a:gdLst/>
              <a:ahLst/>
              <a:cxnLst/>
              <a:rect r="r" b="b" t="t" l="l"/>
              <a:pathLst>
                <a:path h="5229222" w="7989454">
                  <a:moveTo>
                    <a:pt x="0" y="0"/>
                  </a:moveTo>
                  <a:lnTo>
                    <a:pt x="7989454" y="0"/>
                  </a:lnTo>
                  <a:lnTo>
                    <a:pt x="7989454" y="5229222"/>
                  </a:lnTo>
                  <a:lnTo>
                    <a:pt x="0" y="5229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33288" t="-2921" r="0" b="-149369"/>
              </a:stretch>
            </a:blipFill>
          </p:spPr>
        </p:sp>
        <p:grpSp>
          <p:nvGrpSpPr>
            <p:cNvPr name="Group 10" id="10"/>
            <p:cNvGrpSpPr/>
            <p:nvPr/>
          </p:nvGrpSpPr>
          <p:grpSpPr>
            <a:xfrm rot="0">
              <a:off x="12613429" y="5483179"/>
              <a:ext cx="11227233" cy="4595699"/>
              <a:chOff x="0" y="0"/>
              <a:chExt cx="2217725" cy="90779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217725" cy="907792"/>
              </a:xfrm>
              <a:custGeom>
                <a:avLst/>
                <a:gdLst/>
                <a:ahLst/>
                <a:cxnLst/>
                <a:rect r="r" b="b" t="t" l="l"/>
                <a:pathLst>
                  <a:path h="907792" w="2217725">
                    <a:moveTo>
                      <a:pt x="13791" y="0"/>
                    </a:moveTo>
                    <a:lnTo>
                      <a:pt x="2203934" y="0"/>
                    </a:lnTo>
                    <a:cubicBezTo>
                      <a:pt x="2207591" y="0"/>
                      <a:pt x="2211099" y="1453"/>
                      <a:pt x="2213686" y="4039"/>
                    </a:cubicBezTo>
                    <a:cubicBezTo>
                      <a:pt x="2216272" y="6626"/>
                      <a:pt x="2217725" y="10134"/>
                      <a:pt x="2217725" y="13791"/>
                    </a:cubicBezTo>
                    <a:lnTo>
                      <a:pt x="2217725" y="894001"/>
                    </a:lnTo>
                    <a:cubicBezTo>
                      <a:pt x="2217725" y="897659"/>
                      <a:pt x="2216272" y="901167"/>
                      <a:pt x="2213686" y="903753"/>
                    </a:cubicBezTo>
                    <a:cubicBezTo>
                      <a:pt x="2211099" y="906339"/>
                      <a:pt x="2207591" y="907792"/>
                      <a:pt x="2203934" y="907792"/>
                    </a:cubicBezTo>
                    <a:lnTo>
                      <a:pt x="13791" y="907792"/>
                    </a:lnTo>
                    <a:cubicBezTo>
                      <a:pt x="10134" y="907792"/>
                      <a:pt x="6626" y="906339"/>
                      <a:pt x="4039" y="903753"/>
                    </a:cubicBezTo>
                    <a:cubicBezTo>
                      <a:pt x="1453" y="901167"/>
                      <a:pt x="0" y="897659"/>
                      <a:pt x="0" y="894001"/>
                    </a:cubicBezTo>
                    <a:lnTo>
                      <a:pt x="0" y="13791"/>
                    </a:lnTo>
                    <a:cubicBezTo>
                      <a:pt x="0" y="10134"/>
                      <a:pt x="1453" y="6626"/>
                      <a:pt x="4039" y="4039"/>
                    </a:cubicBezTo>
                    <a:cubicBezTo>
                      <a:pt x="6626" y="1453"/>
                      <a:pt x="10134" y="0"/>
                      <a:pt x="13791" y="0"/>
                    </a:cubicBezTo>
                    <a:close/>
                  </a:path>
                </a:pathLst>
              </a:custGeom>
              <a:solidFill>
                <a:srgbClr val="560547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2217725" cy="9458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12613429" y="5523738"/>
              <a:ext cx="11316028" cy="4467873"/>
            </a:xfrm>
            <a:custGeom>
              <a:avLst/>
              <a:gdLst/>
              <a:ahLst/>
              <a:cxnLst/>
              <a:rect r="r" b="b" t="t" l="l"/>
              <a:pathLst>
                <a:path h="4467873" w="11316028">
                  <a:moveTo>
                    <a:pt x="0" y="0"/>
                  </a:moveTo>
                  <a:lnTo>
                    <a:pt x="11316028" y="0"/>
                  </a:lnTo>
                  <a:lnTo>
                    <a:pt x="11316028" y="4467873"/>
                  </a:lnTo>
                  <a:lnTo>
                    <a:pt x="0" y="44678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-128243" r="0" b="-85534"/>
              </a:stretch>
            </a:blipFill>
          </p:spPr>
        </p:sp>
        <p:grpSp>
          <p:nvGrpSpPr>
            <p:cNvPr name="Group 14" id="14"/>
            <p:cNvGrpSpPr/>
            <p:nvPr/>
          </p:nvGrpSpPr>
          <p:grpSpPr>
            <a:xfrm rot="0">
              <a:off x="145504" y="5483179"/>
              <a:ext cx="12375664" cy="4595699"/>
              <a:chOff x="0" y="0"/>
              <a:chExt cx="2444576" cy="907792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444576" cy="907792"/>
              </a:xfrm>
              <a:custGeom>
                <a:avLst/>
                <a:gdLst/>
                <a:ahLst/>
                <a:cxnLst/>
                <a:rect r="r" b="b" t="t" l="l"/>
                <a:pathLst>
                  <a:path h="907792" w="2444576">
                    <a:moveTo>
                      <a:pt x="12512" y="0"/>
                    </a:moveTo>
                    <a:lnTo>
                      <a:pt x="2432064" y="0"/>
                    </a:lnTo>
                    <a:cubicBezTo>
                      <a:pt x="2435382" y="0"/>
                      <a:pt x="2438565" y="1318"/>
                      <a:pt x="2440911" y="3665"/>
                    </a:cubicBezTo>
                    <a:cubicBezTo>
                      <a:pt x="2443257" y="6011"/>
                      <a:pt x="2444576" y="9193"/>
                      <a:pt x="2444576" y="12512"/>
                    </a:cubicBezTo>
                    <a:lnTo>
                      <a:pt x="2444576" y="895281"/>
                    </a:lnTo>
                    <a:cubicBezTo>
                      <a:pt x="2444576" y="898599"/>
                      <a:pt x="2443257" y="901782"/>
                      <a:pt x="2440911" y="904128"/>
                    </a:cubicBezTo>
                    <a:cubicBezTo>
                      <a:pt x="2438565" y="906474"/>
                      <a:pt x="2435382" y="907792"/>
                      <a:pt x="2432064" y="907792"/>
                    </a:cubicBezTo>
                    <a:lnTo>
                      <a:pt x="12512" y="907792"/>
                    </a:lnTo>
                    <a:cubicBezTo>
                      <a:pt x="9193" y="907792"/>
                      <a:pt x="6011" y="906474"/>
                      <a:pt x="3665" y="904128"/>
                    </a:cubicBezTo>
                    <a:cubicBezTo>
                      <a:pt x="1318" y="901782"/>
                      <a:pt x="0" y="898599"/>
                      <a:pt x="0" y="895281"/>
                    </a:cubicBezTo>
                    <a:lnTo>
                      <a:pt x="0" y="12512"/>
                    </a:lnTo>
                    <a:cubicBezTo>
                      <a:pt x="0" y="9193"/>
                      <a:pt x="1318" y="6011"/>
                      <a:pt x="3665" y="3665"/>
                    </a:cubicBezTo>
                    <a:cubicBezTo>
                      <a:pt x="6011" y="1318"/>
                      <a:pt x="9193" y="0"/>
                      <a:pt x="12512" y="0"/>
                    </a:cubicBezTo>
                    <a:close/>
                  </a:path>
                </a:pathLst>
              </a:custGeom>
              <a:solidFill>
                <a:srgbClr val="4C0E44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2444576" cy="9458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16243985" y="809310"/>
              <a:ext cx="7248154" cy="4222160"/>
              <a:chOff x="0" y="0"/>
              <a:chExt cx="1431734" cy="834007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431734" cy="834007"/>
              </a:xfrm>
              <a:custGeom>
                <a:avLst/>
                <a:gdLst/>
                <a:ahLst/>
                <a:cxnLst/>
                <a:rect r="r" b="b" t="t" l="l"/>
                <a:pathLst>
                  <a:path h="834007" w="1431734">
                    <a:moveTo>
                      <a:pt x="21362" y="0"/>
                    </a:moveTo>
                    <a:lnTo>
                      <a:pt x="1410372" y="0"/>
                    </a:lnTo>
                    <a:cubicBezTo>
                      <a:pt x="1416037" y="0"/>
                      <a:pt x="1421471" y="2251"/>
                      <a:pt x="1425477" y="6257"/>
                    </a:cubicBezTo>
                    <a:cubicBezTo>
                      <a:pt x="1429484" y="10263"/>
                      <a:pt x="1431734" y="15697"/>
                      <a:pt x="1431734" y="21362"/>
                    </a:cubicBezTo>
                    <a:lnTo>
                      <a:pt x="1431734" y="812644"/>
                    </a:lnTo>
                    <a:cubicBezTo>
                      <a:pt x="1431734" y="818310"/>
                      <a:pt x="1429484" y="823744"/>
                      <a:pt x="1425477" y="827750"/>
                    </a:cubicBezTo>
                    <a:cubicBezTo>
                      <a:pt x="1421471" y="831756"/>
                      <a:pt x="1416037" y="834007"/>
                      <a:pt x="1410372" y="834007"/>
                    </a:cubicBezTo>
                    <a:lnTo>
                      <a:pt x="21362" y="834007"/>
                    </a:lnTo>
                    <a:cubicBezTo>
                      <a:pt x="15697" y="834007"/>
                      <a:pt x="10263" y="831756"/>
                      <a:pt x="6257" y="827750"/>
                    </a:cubicBezTo>
                    <a:cubicBezTo>
                      <a:pt x="2251" y="823744"/>
                      <a:pt x="0" y="818310"/>
                      <a:pt x="0" y="812644"/>
                    </a:cubicBezTo>
                    <a:lnTo>
                      <a:pt x="0" y="21362"/>
                    </a:lnTo>
                    <a:cubicBezTo>
                      <a:pt x="0" y="15697"/>
                      <a:pt x="2251" y="10263"/>
                      <a:pt x="6257" y="6257"/>
                    </a:cubicBezTo>
                    <a:cubicBezTo>
                      <a:pt x="10263" y="2251"/>
                      <a:pt x="15697" y="0"/>
                      <a:pt x="21362" y="0"/>
                    </a:cubicBezTo>
                    <a:close/>
                  </a:path>
                </a:pathLst>
              </a:custGeom>
              <a:solidFill>
                <a:srgbClr val="560547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1431734" cy="8721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5070588" y="109750"/>
              <a:ext cx="5439370" cy="4938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b="true" sz="21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Problem Statement Redefined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8518014" y="109750"/>
              <a:ext cx="2833432" cy="4938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b="true" sz="21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Market Idea: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480451" y="715771"/>
              <a:ext cx="1437481" cy="396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56054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Objective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480451" y="2457213"/>
              <a:ext cx="3492081" cy="396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56054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Potential Opportunity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7790273" y="715771"/>
              <a:ext cx="1620639" cy="396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56054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Challenges</a:t>
              </a:r>
            </a:p>
          </p:txBody>
        </p:sp>
        <p:sp>
          <p:nvSpPr>
            <p:cNvPr name="Freeform 25" id="25"/>
            <p:cNvSpPr/>
            <p:nvPr/>
          </p:nvSpPr>
          <p:spPr>
            <a:xfrm flipH="false" flipV="false" rot="0">
              <a:off x="15995230" y="622047"/>
              <a:ext cx="7716185" cy="4692405"/>
            </a:xfrm>
            <a:custGeom>
              <a:avLst/>
              <a:gdLst/>
              <a:ahLst/>
              <a:cxnLst/>
              <a:rect r="r" b="b" t="t" l="l"/>
              <a:pathLst>
                <a:path h="4692405" w="7716185">
                  <a:moveTo>
                    <a:pt x="0" y="0"/>
                  </a:moveTo>
                  <a:lnTo>
                    <a:pt x="7716185" y="0"/>
                  </a:lnTo>
                  <a:lnTo>
                    <a:pt x="7716185" y="4692405"/>
                  </a:lnTo>
                  <a:lnTo>
                    <a:pt x="0" y="46924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759154" y="5586114"/>
              <a:ext cx="11157139" cy="4441660"/>
            </a:xfrm>
            <a:custGeom>
              <a:avLst/>
              <a:gdLst/>
              <a:ahLst/>
              <a:cxnLst/>
              <a:rect r="r" b="b" t="t" l="l"/>
              <a:pathLst>
                <a:path h="4441660" w="11157139">
                  <a:moveTo>
                    <a:pt x="0" y="0"/>
                  </a:moveTo>
                  <a:lnTo>
                    <a:pt x="11157139" y="0"/>
                  </a:lnTo>
                  <a:lnTo>
                    <a:pt x="11157139" y="4441660"/>
                  </a:lnTo>
                  <a:lnTo>
                    <a:pt x="0" y="44416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2358" r="0" b="-2358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2937922" y="6191657"/>
              <a:ext cx="10593795" cy="3543969"/>
            </a:xfrm>
            <a:custGeom>
              <a:avLst/>
              <a:gdLst/>
              <a:ahLst/>
              <a:cxnLst/>
              <a:rect r="r" b="b" t="t" l="l"/>
              <a:pathLst>
                <a:path h="3543969" w="10593795">
                  <a:moveTo>
                    <a:pt x="0" y="0"/>
                  </a:moveTo>
                  <a:lnTo>
                    <a:pt x="10593795" y="0"/>
                  </a:lnTo>
                  <a:lnTo>
                    <a:pt x="10593795" y="3543970"/>
                  </a:lnTo>
                  <a:lnTo>
                    <a:pt x="0" y="3543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872" t="-15159" r="-989" b="-5874"/>
              </a:stretch>
            </a:blipFill>
          </p:spPr>
        </p:sp>
        <p:grpSp>
          <p:nvGrpSpPr>
            <p:cNvPr name="Group 28" id="28"/>
            <p:cNvGrpSpPr/>
            <p:nvPr/>
          </p:nvGrpSpPr>
          <p:grpSpPr>
            <a:xfrm rot="0">
              <a:off x="20651591" y="7319819"/>
              <a:ext cx="974250" cy="974250"/>
              <a:chOff x="0" y="0"/>
              <a:chExt cx="812800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EFEFE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462016" y="1391223"/>
              <a:ext cx="6279481" cy="6314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85"/>
                </a:lnSpc>
                <a:spcBef>
                  <a:spcPct val="0"/>
                </a:spcBef>
              </a:pPr>
              <a:r>
                <a:rPr lang="en-US" sz="1418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Reduce RTO while preserving Meesho's COD-led growth and improving Valmo's last-mile economics.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254655" y="3010277"/>
              <a:ext cx="7114260" cy="2104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244690" indent="-122345" lvl="1">
                <a:lnSpc>
                  <a:spcPts val="1586"/>
                </a:lnSpc>
                <a:buFont typeface="Arial"/>
                <a:buChar char="•"/>
              </a:pPr>
              <a:r>
                <a:rPr lang="en-US" sz="113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Convert RTO from a pure cost centre into a controllable operational metrics</a:t>
              </a:r>
            </a:p>
            <a:p>
              <a:pPr algn="l" marL="244690" indent="-122345" lvl="1">
                <a:lnSpc>
                  <a:spcPts val="1586"/>
                </a:lnSpc>
                <a:buFont typeface="Arial"/>
                <a:buChar char="•"/>
              </a:pPr>
              <a:r>
                <a:rPr lang="en-US" sz="113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94% of RTOs come from COD in the case baseline</a:t>
              </a:r>
            </a:p>
            <a:p>
              <a:pPr algn="l" marL="244690" indent="-122345" lvl="1">
                <a:lnSpc>
                  <a:spcPts val="1586"/>
                </a:lnSpc>
                <a:buFont typeface="Arial"/>
                <a:buChar char="•"/>
              </a:pPr>
              <a:r>
                <a:rPr lang="en-US" sz="113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Risk based prepaid conversion can reduce expected RTO cost</a:t>
              </a:r>
            </a:p>
            <a:p>
              <a:pPr algn="l" marL="244690" indent="-122345" lvl="1">
                <a:lnSpc>
                  <a:spcPts val="1586"/>
                </a:lnSpc>
                <a:buFont typeface="Arial"/>
                <a:buChar char="•"/>
              </a:pPr>
              <a:r>
                <a:rPr lang="en-US" sz="113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Rider proof of attempt can reduce operationally induced RTO</a:t>
              </a:r>
            </a:p>
            <a:p>
              <a:pPr algn="l" marL="244690" indent="-122345" lvl="1">
                <a:lnSpc>
                  <a:spcPts val="1586"/>
                </a:lnSpc>
                <a:buFont typeface="Arial"/>
                <a:buChar char="•"/>
              </a:pPr>
              <a:r>
                <a:rPr lang="en-US" sz="113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Local RTO interception can avoid unnecessary reverse transportation</a:t>
              </a:r>
            </a:p>
            <a:p>
              <a:pPr algn="l" marL="244690" indent="-122345" lvl="1">
                <a:lnSpc>
                  <a:spcPts val="1586"/>
                </a:lnSpc>
                <a:buFont typeface="Arial"/>
                <a:buChar char="•"/>
              </a:pPr>
              <a:r>
                <a:rPr lang="en-US" sz="113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Valmo's decentralized LMDC network creates an opportunity for local resale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7437422" y="1295573"/>
              <a:ext cx="7948745" cy="37311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11153" indent="-155577" lvl="1">
                <a:lnSpc>
                  <a:spcPts val="2017"/>
                </a:lnSpc>
                <a:buFont typeface="Arial"/>
                <a:buChar char="•"/>
              </a:pPr>
              <a:r>
                <a:rPr lang="en-US" b="true" sz="144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Customer Intent</a:t>
              </a:r>
              <a:r>
                <a:rPr lang="en-US" sz="144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: COD dominates orders (80%); buyer remorse and temporary cash shortages contribute to delivery refusal.</a:t>
              </a:r>
            </a:p>
            <a:p>
              <a:pPr algn="l" marL="311153" indent="-155577" lvl="1">
                <a:lnSpc>
                  <a:spcPts val="2017"/>
                </a:lnSpc>
                <a:buFont typeface="Arial"/>
                <a:buChar char="•"/>
              </a:pPr>
              <a:r>
                <a:rPr lang="en-US" sz="144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b="true" sz="144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Last Mile Operations</a:t>
              </a:r>
              <a:r>
                <a:rPr lang="en-US" sz="144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: Unstructured addresses and difficult locations increase RTO; deliveries &gt;10 km from LMDC reach 22% RTO.</a:t>
              </a:r>
            </a:p>
            <a:p>
              <a:pPr algn="l" marL="311153" indent="-155577" lvl="1">
                <a:lnSpc>
                  <a:spcPts val="2017"/>
                </a:lnSpc>
                <a:buFont typeface="Arial"/>
                <a:buChar char="•"/>
              </a:pPr>
              <a:r>
                <a:rPr lang="en-US" b="true" sz="144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Rider Incentives</a:t>
              </a:r>
              <a:r>
                <a:rPr lang="en-US" sz="144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: Low payout (~₹21/delivery) can create incentive misalignment for high-effort deliveries and potential fake attempts.</a:t>
              </a:r>
            </a:p>
            <a:p>
              <a:pPr algn="l" marL="311153" indent="-155577" lvl="1">
                <a:lnSpc>
                  <a:spcPts val="2017"/>
                </a:lnSpc>
                <a:buFont typeface="Arial"/>
                <a:buChar char="•"/>
              </a:pPr>
              <a:r>
                <a:rPr lang="en-US" b="true" sz="144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Reverse Logistics</a:t>
              </a:r>
              <a:r>
                <a:rPr lang="en-US" sz="144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: RTO costs ₹120 vs ₹50 for successful delivery ; a 2.4× cost asymmetry that significantly impacts margins.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15304405" y="5754304"/>
              <a:ext cx="2514774" cy="3027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47"/>
                </a:lnSpc>
                <a:spcBef>
                  <a:spcPct val="0"/>
                </a:spcBef>
              </a:pPr>
              <a:r>
                <a:rPr lang="en-US" b="true" sz="139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RTO Failure Driver (%)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20060840" y="5754304"/>
              <a:ext cx="2381349" cy="2993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30"/>
                </a:lnSpc>
                <a:spcBef>
                  <a:spcPct val="0"/>
                </a:spcBef>
              </a:pPr>
              <a:r>
                <a:rPr lang="en-US" b="true" sz="137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Payment Method (%)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55422"/>
            <a:ext cx="18371126" cy="10597843"/>
          </a:xfrm>
          <a:custGeom>
            <a:avLst/>
            <a:gdLst/>
            <a:ahLst/>
            <a:cxnLst/>
            <a:rect r="r" b="b" t="t" l="l"/>
            <a:pathLst>
              <a:path h="10597843" w="18371126">
                <a:moveTo>
                  <a:pt x="0" y="0"/>
                </a:moveTo>
                <a:lnTo>
                  <a:pt x="18371126" y="0"/>
                </a:lnTo>
                <a:lnTo>
                  <a:pt x="18371126" y="10597844"/>
                </a:lnTo>
                <a:lnTo>
                  <a:pt x="0" y="105978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17000" y="464513"/>
            <a:ext cx="2719481" cy="1019805"/>
          </a:xfrm>
          <a:custGeom>
            <a:avLst/>
            <a:gdLst/>
            <a:ahLst/>
            <a:cxnLst/>
            <a:rect r="r" b="b" t="t" l="l"/>
            <a:pathLst>
              <a:path h="1019805" w="2719481">
                <a:moveTo>
                  <a:pt x="0" y="0"/>
                </a:moveTo>
                <a:lnTo>
                  <a:pt x="2719481" y="0"/>
                </a:lnTo>
                <a:lnTo>
                  <a:pt x="2719481" y="1019806"/>
                </a:lnTo>
                <a:lnTo>
                  <a:pt x="0" y="10198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032235" y="2191924"/>
            <a:ext cx="4079528" cy="382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Problem Statement Redefined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80386" y="2191924"/>
            <a:ext cx="1792709" cy="382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Market Sizing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02006" y="2102472"/>
            <a:ext cx="17953852" cy="7619209"/>
            <a:chOff x="0" y="0"/>
            <a:chExt cx="4728587" cy="20067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728587" cy="2006705"/>
            </a:xfrm>
            <a:custGeom>
              <a:avLst/>
              <a:gdLst/>
              <a:ahLst/>
              <a:cxnLst/>
              <a:rect r="r" b="b" t="t" l="l"/>
              <a:pathLst>
                <a:path h="2006705" w="4728587">
                  <a:moveTo>
                    <a:pt x="6468" y="0"/>
                  </a:moveTo>
                  <a:lnTo>
                    <a:pt x="4722118" y="0"/>
                  </a:lnTo>
                  <a:cubicBezTo>
                    <a:pt x="4723834" y="0"/>
                    <a:pt x="4725479" y="681"/>
                    <a:pt x="4726692" y="1894"/>
                  </a:cubicBezTo>
                  <a:cubicBezTo>
                    <a:pt x="4727905" y="3108"/>
                    <a:pt x="4728587" y="4753"/>
                    <a:pt x="4728587" y="6468"/>
                  </a:cubicBezTo>
                  <a:lnTo>
                    <a:pt x="4728587" y="2000237"/>
                  </a:lnTo>
                  <a:cubicBezTo>
                    <a:pt x="4728587" y="2001953"/>
                    <a:pt x="4727905" y="2003598"/>
                    <a:pt x="4726692" y="2004811"/>
                  </a:cubicBezTo>
                  <a:cubicBezTo>
                    <a:pt x="4725479" y="2006024"/>
                    <a:pt x="4723834" y="2006705"/>
                    <a:pt x="4722118" y="2006705"/>
                  </a:cubicBezTo>
                  <a:lnTo>
                    <a:pt x="6468" y="2006705"/>
                  </a:lnTo>
                  <a:cubicBezTo>
                    <a:pt x="4753" y="2006705"/>
                    <a:pt x="3108" y="2006024"/>
                    <a:pt x="1894" y="2004811"/>
                  </a:cubicBezTo>
                  <a:cubicBezTo>
                    <a:pt x="681" y="2003598"/>
                    <a:pt x="0" y="2001953"/>
                    <a:pt x="0" y="2000237"/>
                  </a:cubicBezTo>
                  <a:lnTo>
                    <a:pt x="0" y="6468"/>
                  </a:lnTo>
                  <a:cubicBezTo>
                    <a:pt x="0" y="4753"/>
                    <a:pt x="681" y="3108"/>
                    <a:pt x="1894" y="1894"/>
                  </a:cubicBezTo>
                  <a:cubicBezTo>
                    <a:pt x="3108" y="681"/>
                    <a:pt x="4753" y="0"/>
                    <a:pt x="6468" y="0"/>
                  </a:cubicBezTo>
                  <a:close/>
                </a:path>
              </a:pathLst>
            </a:custGeom>
            <a:solidFill>
              <a:srgbClr val="56054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728587" cy="20448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93741" y="2574200"/>
            <a:ext cx="17770383" cy="4647609"/>
            <a:chOff x="0" y="0"/>
            <a:chExt cx="23693844" cy="619681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693844" cy="6196812"/>
            </a:xfrm>
            <a:custGeom>
              <a:avLst/>
              <a:gdLst/>
              <a:ahLst/>
              <a:cxnLst/>
              <a:rect r="r" b="b" t="t" l="l"/>
              <a:pathLst>
                <a:path h="6196812" w="23693844">
                  <a:moveTo>
                    <a:pt x="0" y="0"/>
                  </a:moveTo>
                  <a:lnTo>
                    <a:pt x="23693844" y="0"/>
                  </a:lnTo>
                  <a:lnTo>
                    <a:pt x="23693844" y="6196812"/>
                  </a:lnTo>
                  <a:lnTo>
                    <a:pt x="0" y="61968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1" id="11"/>
            <p:cNvGrpSpPr/>
            <p:nvPr/>
          </p:nvGrpSpPr>
          <p:grpSpPr>
            <a:xfrm rot="0">
              <a:off x="456821" y="1259032"/>
              <a:ext cx="5072615" cy="4110572"/>
              <a:chOff x="0" y="0"/>
              <a:chExt cx="1012578" cy="820538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012578" cy="820538"/>
              </a:xfrm>
              <a:custGeom>
                <a:avLst/>
                <a:gdLst/>
                <a:ahLst/>
                <a:cxnLst/>
                <a:rect r="r" b="b" t="t" l="l"/>
                <a:pathLst>
                  <a:path h="820538" w="1012578">
                    <a:moveTo>
                      <a:pt x="30205" y="0"/>
                    </a:moveTo>
                    <a:lnTo>
                      <a:pt x="982372" y="0"/>
                    </a:lnTo>
                    <a:cubicBezTo>
                      <a:pt x="999054" y="0"/>
                      <a:pt x="1012578" y="13523"/>
                      <a:pt x="1012578" y="30205"/>
                    </a:cubicBezTo>
                    <a:lnTo>
                      <a:pt x="1012578" y="790333"/>
                    </a:lnTo>
                    <a:cubicBezTo>
                      <a:pt x="1012578" y="807015"/>
                      <a:pt x="999054" y="820538"/>
                      <a:pt x="982372" y="820538"/>
                    </a:cubicBezTo>
                    <a:lnTo>
                      <a:pt x="30205" y="820538"/>
                    </a:lnTo>
                    <a:cubicBezTo>
                      <a:pt x="13523" y="820538"/>
                      <a:pt x="0" y="807015"/>
                      <a:pt x="0" y="790333"/>
                    </a:cubicBezTo>
                    <a:lnTo>
                      <a:pt x="0" y="30205"/>
                    </a:lnTo>
                    <a:cubicBezTo>
                      <a:pt x="0" y="13523"/>
                      <a:pt x="13523" y="0"/>
                      <a:pt x="30205" y="0"/>
                    </a:cubicBezTo>
                    <a:close/>
                  </a:path>
                </a:pathLst>
              </a:custGeom>
              <a:solidFill>
                <a:srgbClr val="C4A8FF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012578" cy="8586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6333914" y="1776194"/>
              <a:ext cx="5072615" cy="4110572"/>
              <a:chOff x="0" y="0"/>
              <a:chExt cx="1012578" cy="820538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012578" cy="820538"/>
              </a:xfrm>
              <a:custGeom>
                <a:avLst/>
                <a:gdLst/>
                <a:ahLst/>
                <a:cxnLst/>
                <a:rect r="r" b="b" t="t" l="l"/>
                <a:pathLst>
                  <a:path h="820538" w="1012578">
                    <a:moveTo>
                      <a:pt x="30205" y="0"/>
                    </a:moveTo>
                    <a:lnTo>
                      <a:pt x="982372" y="0"/>
                    </a:lnTo>
                    <a:cubicBezTo>
                      <a:pt x="999054" y="0"/>
                      <a:pt x="1012578" y="13523"/>
                      <a:pt x="1012578" y="30205"/>
                    </a:cubicBezTo>
                    <a:lnTo>
                      <a:pt x="1012578" y="790333"/>
                    </a:lnTo>
                    <a:cubicBezTo>
                      <a:pt x="1012578" y="807015"/>
                      <a:pt x="999054" y="820538"/>
                      <a:pt x="982372" y="820538"/>
                    </a:cubicBezTo>
                    <a:lnTo>
                      <a:pt x="30205" y="820538"/>
                    </a:lnTo>
                    <a:cubicBezTo>
                      <a:pt x="13523" y="820538"/>
                      <a:pt x="0" y="807015"/>
                      <a:pt x="0" y="790333"/>
                    </a:cubicBezTo>
                    <a:lnTo>
                      <a:pt x="0" y="30205"/>
                    </a:lnTo>
                    <a:cubicBezTo>
                      <a:pt x="0" y="13523"/>
                      <a:pt x="13523" y="0"/>
                      <a:pt x="30205" y="0"/>
                    </a:cubicBezTo>
                    <a:close/>
                  </a:path>
                </a:pathLst>
              </a:custGeom>
              <a:solidFill>
                <a:srgbClr val="FFB1E3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012578" cy="8586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11846922" y="1776194"/>
              <a:ext cx="5072615" cy="4110572"/>
              <a:chOff x="0" y="0"/>
              <a:chExt cx="1012578" cy="820538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012578" cy="820538"/>
              </a:xfrm>
              <a:custGeom>
                <a:avLst/>
                <a:gdLst/>
                <a:ahLst/>
                <a:cxnLst/>
                <a:rect r="r" b="b" t="t" l="l"/>
                <a:pathLst>
                  <a:path h="820538" w="1012578">
                    <a:moveTo>
                      <a:pt x="30205" y="0"/>
                    </a:moveTo>
                    <a:lnTo>
                      <a:pt x="982372" y="0"/>
                    </a:lnTo>
                    <a:cubicBezTo>
                      <a:pt x="999054" y="0"/>
                      <a:pt x="1012578" y="13523"/>
                      <a:pt x="1012578" y="30205"/>
                    </a:cubicBezTo>
                    <a:lnTo>
                      <a:pt x="1012578" y="790333"/>
                    </a:lnTo>
                    <a:cubicBezTo>
                      <a:pt x="1012578" y="807015"/>
                      <a:pt x="999054" y="820538"/>
                      <a:pt x="982372" y="820538"/>
                    </a:cubicBezTo>
                    <a:lnTo>
                      <a:pt x="30205" y="820538"/>
                    </a:lnTo>
                    <a:cubicBezTo>
                      <a:pt x="13523" y="820538"/>
                      <a:pt x="0" y="807015"/>
                      <a:pt x="0" y="790333"/>
                    </a:cubicBezTo>
                    <a:lnTo>
                      <a:pt x="0" y="30205"/>
                    </a:lnTo>
                    <a:cubicBezTo>
                      <a:pt x="0" y="13523"/>
                      <a:pt x="13523" y="0"/>
                      <a:pt x="30205" y="0"/>
                    </a:cubicBezTo>
                    <a:close/>
                  </a:path>
                </a:pathLst>
              </a:custGeom>
              <a:solidFill>
                <a:srgbClr val="E2FFBE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1012578" cy="8586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18240485" y="1776194"/>
              <a:ext cx="5072615" cy="4110572"/>
              <a:chOff x="0" y="0"/>
              <a:chExt cx="1012578" cy="820538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012578" cy="820538"/>
              </a:xfrm>
              <a:custGeom>
                <a:avLst/>
                <a:gdLst/>
                <a:ahLst/>
                <a:cxnLst/>
                <a:rect r="r" b="b" t="t" l="l"/>
                <a:pathLst>
                  <a:path h="820538" w="1012578">
                    <a:moveTo>
                      <a:pt x="30205" y="0"/>
                    </a:moveTo>
                    <a:lnTo>
                      <a:pt x="982372" y="0"/>
                    </a:lnTo>
                    <a:cubicBezTo>
                      <a:pt x="999054" y="0"/>
                      <a:pt x="1012578" y="13523"/>
                      <a:pt x="1012578" y="30205"/>
                    </a:cubicBezTo>
                    <a:lnTo>
                      <a:pt x="1012578" y="790333"/>
                    </a:lnTo>
                    <a:cubicBezTo>
                      <a:pt x="1012578" y="807015"/>
                      <a:pt x="999054" y="820538"/>
                      <a:pt x="982372" y="820538"/>
                    </a:cubicBezTo>
                    <a:lnTo>
                      <a:pt x="30205" y="820538"/>
                    </a:lnTo>
                    <a:cubicBezTo>
                      <a:pt x="13523" y="820538"/>
                      <a:pt x="0" y="807015"/>
                      <a:pt x="0" y="790333"/>
                    </a:cubicBezTo>
                    <a:lnTo>
                      <a:pt x="0" y="30205"/>
                    </a:lnTo>
                    <a:cubicBezTo>
                      <a:pt x="0" y="13523"/>
                      <a:pt x="13523" y="0"/>
                      <a:pt x="30205" y="0"/>
                    </a:cubicBezTo>
                    <a:close/>
                  </a:path>
                </a:pathLst>
              </a:custGeom>
              <a:solidFill>
                <a:srgbClr val="C1FE72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1012578" cy="8586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206170" y="224131"/>
              <a:ext cx="5780594" cy="52870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</a:t>
              </a:r>
              <a:r>
                <a:rPr lang="en-US" sz="12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 Last-Mile Rider</a:t>
              </a:r>
            </a:p>
            <a:p>
              <a:pPr algn="l">
                <a:lnSpc>
                  <a:spcPts val="1679"/>
                </a:lnSpc>
              </a:pPr>
            </a:p>
            <a:p>
              <a:pPr algn="l">
                <a:lnSpc>
                  <a:spcPts val="1679"/>
                </a:lnSpc>
              </a:pPr>
              <a:r>
                <a:rPr lang="en-US" b="true" sz="12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Profile: 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Valmo delivery partner serving an LMDC.</a:t>
              </a:r>
            </a:p>
            <a:p>
              <a:pPr algn="l">
                <a:lnSpc>
                  <a:spcPts val="1679"/>
                </a:lnSpc>
              </a:pPr>
            </a:p>
            <a:p>
              <a:pPr algn="l">
                <a:lnSpc>
                  <a:spcPts val="1679"/>
                </a:lnSpc>
              </a:pPr>
              <a:r>
                <a:rPr lang="en-US" b="true" sz="12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Goals: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Maximize earnings, complete deliveries efficiently, minimize travel/time.</a:t>
              </a:r>
            </a:p>
            <a:p>
              <a:pPr algn="l">
                <a:lnSpc>
                  <a:spcPts val="1679"/>
                </a:lnSpc>
              </a:pPr>
            </a:p>
            <a:p>
              <a:pPr algn="l">
                <a:lnSpc>
                  <a:spcPts val="1679"/>
                </a:lnSpc>
              </a:pPr>
              <a:r>
                <a:rPr lang="en-US" b="true" sz="12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Pain Points:</a:t>
              </a:r>
            </a:p>
            <a:p>
              <a:pPr algn="l">
                <a:lnSpc>
                  <a:spcPts val="1679"/>
                </a:lnSpc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• Long distance routes</a:t>
              </a:r>
            </a:p>
            <a:p>
              <a:pPr algn="l">
                <a:lnSpc>
                  <a:spcPts val="1679"/>
                </a:lnSpc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• Unstructured addresses</a:t>
              </a:r>
            </a:p>
            <a:p>
              <a:pPr algn="l">
                <a:lnSpc>
                  <a:spcPts val="1679"/>
                </a:lnSpc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• Customer unavailable</a:t>
              </a:r>
            </a:p>
            <a:p>
              <a:pPr algn="l">
                <a:lnSpc>
                  <a:spcPts val="1679"/>
                </a:lnSpc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• Low reward relative to effort</a:t>
              </a:r>
            </a:p>
            <a:p>
              <a:pPr algn="l">
                <a:lnSpc>
                  <a:spcPts val="1679"/>
                </a:lnSpc>
              </a:pPr>
            </a:p>
            <a:p>
              <a:pPr algn="l">
                <a:lnSpc>
                  <a:spcPts val="1679"/>
                </a:lnSpc>
              </a:pPr>
              <a:r>
                <a:rPr lang="en-US" b="true" sz="12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Digital Maturity: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High</a:t>
              </a:r>
            </a:p>
            <a:p>
              <a:pPr algn="l">
                <a:lnSpc>
                  <a:spcPts val="1679"/>
                </a:lnSpc>
              </a:pPr>
            </a:p>
            <a:p>
              <a:pPr algn="l">
                <a:lnSpc>
                  <a:spcPts val="1679"/>
                </a:lnSpc>
              </a:pPr>
              <a:r>
                <a:rPr lang="en-US" b="true" sz="12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Opportunity for Meesho: 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GPS proof of attempt + route optimization + differentiated incentives for difficult deliveries.</a:t>
              </a:r>
            </a:p>
            <a:p>
              <a:pPr algn="l">
                <a:lnSpc>
                  <a:spcPts val="1679"/>
                </a:lnSpc>
              </a:pP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6266164" y="224131"/>
              <a:ext cx="5385449" cy="50076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</a:t>
              </a:r>
              <a:r>
                <a:rPr lang="en-US" sz="12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 COD Customer</a:t>
              </a:r>
            </a:p>
            <a:p>
              <a:pPr algn="l">
                <a:lnSpc>
                  <a:spcPts val="1679"/>
                </a:lnSpc>
              </a:pPr>
            </a:p>
            <a:p>
              <a:pPr algn="l">
                <a:lnSpc>
                  <a:spcPts val="1679"/>
                </a:lnSpc>
              </a:pPr>
              <a:r>
                <a:rPr lang="en-US" b="true" sz="12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Profile: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First-time / infrequent Meesho customer choosing COD.</a:t>
              </a:r>
            </a:p>
            <a:p>
              <a:pPr algn="l">
                <a:lnSpc>
                  <a:spcPts val="1679"/>
                </a:lnSpc>
              </a:pPr>
            </a:p>
            <a:p>
              <a:pPr algn="l">
                <a:lnSpc>
                  <a:spcPts val="1679"/>
                </a:lnSpc>
              </a:pPr>
              <a:r>
                <a:rPr lang="en-US" b="true" sz="12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Goals: 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Convenience, no upfront payment, easy returns.</a:t>
              </a:r>
            </a:p>
            <a:p>
              <a:pPr algn="l">
                <a:lnSpc>
                  <a:spcPts val="1679"/>
                </a:lnSpc>
              </a:pPr>
            </a:p>
            <a:p>
              <a:pPr algn="l">
                <a:lnSpc>
                  <a:spcPts val="1679"/>
                </a:lnSpc>
              </a:pPr>
              <a:r>
                <a:rPr lang="en-US" b="true" sz="12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Pain Points:</a:t>
              </a:r>
            </a:p>
            <a:p>
              <a:pPr algn="l">
                <a:lnSpc>
                  <a:spcPts val="1679"/>
                </a:lnSpc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• Buyer remorse</a:t>
              </a:r>
            </a:p>
            <a:p>
              <a:pPr algn="l">
                <a:lnSpc>
                  <a:spcPts val="1679"/>
                </a:lnSpc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• Cash unavailable at delivery</a:t>
              </a:r>
            </a:p>
            <a:p>
              <a:pPr algn="l">
                <a:lnSpc>
                  <a:spcPts val="1679"/>
                </a:lnSpc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• Doesn't want to wait 3–5 days</a:t>
              </a:r>
            </a:p>
            <a:p>
              <a:pPr algn="l">
                <a:lnSpc>
                  <a:spcPts val="1679"/>
                </a:lnSpc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• Address/location ambiguity</a:t>
              </a:r>
            </a:p>
            <a:p>
              <a:pPr algn="l">
                <a:lnSpc>
                  <a:spcPts val="1679"/>
                </a:lnSpc>
              </a:pPr>
            </a:p>
            <a:p>
              <a:pPr algn="l">
                <a:lnSpc>
                  <a:spcPts val="1679"/>
                </a:lnSpc>
              </a:pPr>
              <a:r>
                <a:rPr lang="en-US" b="true" sz="12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Digital Maturity: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High</a:t>
              </a:r>
            </a:p>
            <a:p>
              <a:pPr algn="l">
                <a:lnSpc>
                  <a:spcPts val="1679"/>
                </a:lnSpc>
              </a:pPr>
            </a:p>
            <a:p>
              <a:pPr algn="l">
                <a:lnSpc>
                  <a:spcPts val="1679"/>
                </a:lnSpc>
              </a:pPr>
              <a:r>
                <a:rPr lang="en-US" b="true" sz="12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Opportunity for Meesho: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Targeted prepaid incentive + WhatsApp confirmation + live location sharing.</a:t>
              </a:r>
            </a:p>
            <a:p>
              <a:pPr algn="l">
                <a:lnSpc>
                  <a:spcPts val="1679"/>
                </a:lnSpc>
              </a:pP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1931013" y="224131"/>
              <a:ext cx="5857414" cy="50076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</a:t>
              </a:r>
              <a:r>
                <a:rPr lang="en-US" sz="12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 LMDC / Hub Operator</a:t>
              </a:r>
            </a:p>
            <a:p>
              <a:pPr algn="l">
                <a:lnSpc>
                  <a:spcPts val="1679"/>
                </a:lnSpc>
              </a:pPr>
            </a:p>
            <a:p>
              <a:pPr algn="l">
                <a:lnSpc>
                  <a:spcPts val="1679"/>
                </a:lnSpc>
              </a:pPr>
              <a:r>
                <a:rPr lang="en-US" b="true" sz="12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Profile: 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Local logistics node handling shipment sorting and last mile allocation.</a:t>
              </a:r>
            </a:p>
            <a:p>
              <a:pPr algn="l">
                <a:lnSpc>
                  <a:spcPts val="1679"/>
                </a:lnSpc>
              </a:pPr>
            </a:p>
            <a:p>
              <a:pPr algn="l">
                <a:lnSpc>
                  <a:spcPts val="1679"/>
                </a:lnSpc>
              </a:pPr>
              <a:r>
                <a:rPr lang="en-US" b="true" sz="12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Goals: 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High throughput, low RTO, efficient rider utilization.</a:t>
              </a:r>
            </a:p>
            <a:p>
              <a:pPr algn="l">
                <a:lnSpc>
                  <a:spcPts val="1679"/>
                </a:lnSpc>
              </a:pPr>
            </a:p>
            <a:p>
              <a:pPr algn="l">
                <a:lnSpc>
                  <a:spcPts val="1679"/>
                </a:lnSpc>
              </a:pPr>
              <a:r>
                <a:rPr lang="en-US" b="true" sz="12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Pain Points:</a:t>
              </a:r>
            </a:p>
            <a:p>
              <a:pPr algn="l">
                <a:lnSpc>
                  <a:spcPts val="1679"/>
                </a:lnSpc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• Poor address quality</a:t>
              </a:r>
            </a:p>
            <a:p>
              <a:pPr algn="l">
                <a:lnSpc>
                  <a:spcPts val="1679"/>
                </a:lnSpc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• Rider capacity mismatch</a:t>
              </a:r>
            </a:p>
            <a:p>
              <a:pPr algn="l">
                <a:lnSpc>
                  <a:spcPts val="1679"/>
                </a:lnSpc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• High failed-attempt volumes</a:t>
              </a:r>
            </a:p>
            <a:p>
              <a:pPr algn="l">
                <a:lnSpc>
                  <a:spcPts val="1679"/>
                </a:lnSpc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• RTO inventory accumulation</a:t>
              </a:r>
            </a:p>
            <a:p>
              <a:pPr algn="l">
                <a:lnSpc>
                  <a:spcPts val="1679"/>
                </a:lnSpc>
              </a:pPr>
            </a:p>
            <a:p>
              <a:pPr algn="l">
                <a:lnSpc>
                  <a:spcPts val="1679"/>
                </a:lnSpc>
              </a:pPr>
              <a:r>
                <a:rPr lang="en-US" b="true" sz="12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Digital Maturity: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High</a:t>
              </a:r>
            </a:p>
            <a:p>
              <a:pPr algn="l">
                <a:lnSpc>
                  <a:spcPts val="1679"/>
                </a:lnSpc>
              </a:pPr>
            </a:p>
            <a:p>
              <a:pPr algn="l">
                <a:lnSpc>
                  <a:spcPts val="1679"/>
                </a:lnSpc>
              </a:pPr>
              <a:r>
                <a:rPr lang="en-US" b="true" sz="12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Opportunity for Meesho: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 h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maps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+ 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rid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er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aly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ti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cs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+ 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loc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mme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ce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i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ve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ntory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at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hing.</a:t>
              </a:r>
            </a:p>
            <a:p>
              <a:pPr algn="l">
                <a:lnSpc>
                  <a:spcPts val="1679"/>
                </a:lnSpc>
              </a:pP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18134931" y="224131"/>
              <a:ext cx="5361851" cy="50076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</a:t>
              </a:r>
              <a:r>
                <a:rPr lang="en-US" sz="12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 Seller / Merchant</a:t>
              </a:r>
            </a:p>
            <a:p>
              <a:pPr algn="l">
                <a:lnSpc>
                  <a:spcPts val="1679"/>
                </a:lnSpc>
              </a:pPr>
            </a:p>
            <a:p>
              <a:pPr algn="l">
                <a:lnSpc>
                  <a:spcPts val="1679"/>
                </a:lnSpc>
              </a:pPr>
              <a:r>
                <a:rPr lang="en-US" b="true" sz="12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Profile: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Merchant whose product gets returned.</a:t>
              </a:r>
            </a:p>
            <a:p>
              <a:pPr algn="l">
                <a:lnSpc>
                  <a:spcPts val="1679"/>
                </a:lnSpc>
              </a:pPr>
            </a:p>
            <a:p>
              <a:pPr algn="l">
                <a:lnSpc>
                  <a:spcPts val="1679"/>
                </a:lnSpc>
              </a:pPr>
              <a:r>
                <a:rPr lang="en-US" b="true" sz="12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Goals: 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Successful delivery, minimize inventory loss, protect margins.</a:t>
              </a:r>
            </a:p>
            <a:p>
              <a:pPr algn="l">
                <a:lnSpc>
                  <a:spcPts val="1679"/>
                </a:lnSpc>
              </a:pPr>
            </a:p>
            <a:p>
              <a:pPr algn="l">
                <a:lnSpc>
                  <a:spcPts val="1679"/>
                </a:lnSpc>
              </a:pPr>
              <a:r>
                <a:rPr lang="en-US" b="true" sz="12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Pain Points:</a:t>
              </a:r>
            </a:p>
            <a:p>
              <a:pPr algn="l">
                <a:lnSpc>
                  <a:spcPts val="1679"/>
                </a:lnSpc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• ₹120 RTO hit</a:t>
              </a:r>
            </a:p>
            <a:p>
              <a:pPr algn="l">
                <a:lnSpc>
                  <a:spcPts val="1679"/>
                </a:lnSpc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• Restocking cost</a:t>
              </a:r>
            </a:p>
            <a:p>
              <a:pPr algn="l">
                <a:lnSpc>
                  <a:spcPts val="1679"/>
                </a:lnSpc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• Packaging damage</a:t>
              </a:r>
            </a:p>
            <a:p>
              <a:pPr algn="l">
                <a:lnSpc>
                  <a:spcPts val="1679"/>
                </a:lnSpc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• Inventory tied up during reverse journey</a:t>
              </a:r>
            </a:p>
            <a:p>
              <a:pPr algn="l">
                <a:lnSpc>
                  <a:spcPts val="1679"/>
                </a:lnSpc>
              </a:pPr>
            </a:p>
            <a:p>
              <a:pPr algn="l">
                <a:lnSpc>
                  <a:spcPts val="1679"/>
                </a:lnSpc>
              </a:pPr>
              <a:r>
                <a:rPr lang="en-US" b="true" sz="12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Digital Maturity: 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Moderate to High</a:t>
              </a:r>
            </a:p>
            <a:p>
              <a:pPr algn="l">
                <a:lnSpc>
                  <a:spcPts val="1679"/>
                </a:lnSpc>
              </a:pPr>
            </a:p>
            <a:p>
              <a:pPr algn="l">
                <a:lnSpc>
                  <a:spcPts val="1679"/>
                </a:lnSpc>
              </a:pPr>
              <a:r>
                <a:rPr lang="en-US" b="true" sz="12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Opportunity for Meesho: 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Local RTO interception + faster inventory recovery + merchant visibility.</a:t>
              </a:r>
            </a:p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93741" y="6556012"/>
            <a:ext cx="17770383" cy="2011919"/>
            <a:chOff x="0" y="0"/>
            <a:chExt cx="4680265" cy="52988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680265" cy="529888"/>
            </a:xfrm>
            <a:custGeom>
              <a:avLst/>
              <a:gdLst/>
              <a:ahLst/>
              <a:cxnLst/>
              <a:rect r="r" b="b" t="t" l="l"/>
              <a:pathLst>
                <a:path h="529888" w="4680265">
                  <a:moveTo>
                    <a:pt x="0" y="0"/>
                  </a:moveTo>
                  <a:lnTo>
                    <a:pt x="4680265" y="0"/>
                  </a:lnTo>
                  <a:lnTo>
                    <a:pt x="4680265" y="529888"/>
                  </a:lnTo>
                  <a:lnTo>
                    <a:pt x="0" y="529888"/>
                  </a:lnTo>
                  <a:close/>
                </a:path>
              </a:pathLst>
            </a:custGeom>
            <a:solidFill>
              <a:srgbClr val="560547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4680265" cy="5679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aphicFrame>
        <p:nvGraphicFramePr>
          <p:cNvPr name="Object 30" id="30"/>
          <p:cNvGraphicFramePr/>
          <p:nvPr/>
        </p:nvGraphicFramePr>
        <p:xfrm>
          <a:off x="293741" y="7028043"/>
          <a:ext cx="16282898" cy="5253084"/>
        </p:xfrm>
        <a:graphic>
          <a:graphicData uri="http://schemas.openxmlformats.org/presentationml/2006/ole">
            <p:oleObj imgW="19532600" imgH="84963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1" id="31"/>
          <p:cNvSpPr txBox="true"/>
          <p:nvPr/>
        </p:nvSpPr>
        <p:spPr>
          <a:xfrm rot="0">
            <a:off x="6904400" y="2134688"/>
            <a:ext cx="4562326" cy="3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</a:t>
            </a:r>
            <a:r>
              <a:rPr lang="en-US" b="true" sz="2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livery Stakeholder Personas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111082" y="6569573"/>
            <a:ext cx="4065836" cy="3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Competitive Benchmarking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55422"/>
            <a:ext cx="18371126" cy="10597843"/>
          </a:xfrm>
          <a:custGeom>
            <a:avLst/>
            <a:gdLst/>
            <a:ahLst/>
            <a:cxnLst/>
            <a:rect r="r" b="b" t="t" l="l"/>
            <a:pathLst>
              <a:path h="10597843" w="18371126">
                <a:moveTo>
                  <a:pt x="0" y="0"/>
                </a:moveTo>
                <a:lnTo>
                  <a:pt x="18371126" y="0"/>
                </a:lnTo>
                <a:lnTo>
                  <a:pt x="18371126" y="10597844"/>
                </a:lnTo>
                <a:lnTo>
                  <a:pt x="0" y="105978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17000" y="464513"/>
            <a:ext cx="2719481" cy="1019805"/>
          </a:xfrm>
          <a:custGeom>
            <a:avLst/>
            <a:gdLst/>
            <a:ahLst/>
            <a:cxnLst/>
            <a:rect r="r" b="b" t="t" l="l"/>
            <a:pathLst>
              <a:path h="1019805" w="2719481">
                <a:moveTo>
                  <a:pt x="0" y="0"/>
                </a:moveTo>
                <a:lnTo>
                  <a:pt x="2719481" y="0"/>
                </a:lnTo>
                <a:lnTo>
                  <a:pt x="2719481" y="1019806"/>
                </a:lnTo>
                <a:lnTo>
                  <a:pt x="0" y="10198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3308" y="2221935"/>
            <a:ext cx="18191859" cy="7552155"/>
            <a:chOff x="0" y="0"/>
            <a:chExt cx="24255812" cy="1006954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24255812" cy="10018027"/>
              <a:chOff x="0" y="0"/>
              <a:chExt cx="4791272" cy="197887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791271" cy="1978870"/>
              </a:xfrm>
              <a:custGeom>
                <a:avLst/>
                <a:gdLst/>
                <a:ahLst/>
                <a:cxnLst/>
                <a:rect r="r" b="b" t="t" l="l"/>
                <a:pathLst>
                  <a:path h="1978870" w="4791271">
                    <a:moveTo>
                      <a:pt x="6384" y="0"/>
                    </a:moveTo>
                    <a:lnTo>
                      <a:pt x="4784888" y="0"/>
                    </a:lnTo>
                    <a:cubicBezTo>
                      <a:pt x="4788414" y="0"/>
                      <a:pt x="4791271" y="2858"/>
                      <a:pt x="4791271" y="6384"/>
                    </a:cubicBezTo>
                    <a:lnTo>
                      <a:pt x="4791271" y="1972486"/>
                    </a:lnTo>
                    <a:cubicBezTo>
                      <a:pt x="4791271" y="1976012"/>
                      <a:pt x="4788414" y="1978870"/>
                      <a:pt x="4784888" y="1978870"/>
                    </a:cubicBezTo>
                    <a:lnTo>
                      <a:pt x="6384" y="1978870"/>
                    </a:lnTo>
                    <a:cubicBezTo>
                      <a:pt x="2858" y="1978870"/>
                      <a:pt x="0" y="1976012"/>
                      <a:pt x="0" y="1972486"/>
                    </a:cubicBezTo>
                    <a:lnTo>
                      <a:pt x="0" y="6384"/>
                    </a:lnTo>
                    <a:cubicBezTo>
                      <a:pt x="0" y="2858"/>
                      <a:pt x="2858" y="0"/>
                      <a:pt x="6384" y="0"/>
                    </a:cubicBezTo>
                    <a:close/>
                  </a:path>
                </a:pathLst>
              </a:custGeom>
              <a:solidFill>
                <a:srgbClr val="560547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791272" cy="20169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12134256" y="481055"/>
              <a:ext cx="11970728" cy="9386682"/>
              <a:chOff x="0" y="0"/>
              <a:chExt cx="2364588" cy="1854159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364588" cy="1854159"/>
              </a:xfrm>
              <a:custGeom>
                <a:avLst/>
                <a:gdLst/>
                <a:ahLst/>
                <a:cxnLst/>
                <a:rect r="r" b="b" t="t" l="l"/>
                <a:pathLst>
                  <a:path h="1854159" w="2364588">
                    <a:moveTo>
                      <a:pt x="12935" y="0"/>
                    </a:moveTo>
                    <a:lnTo>
                      <a:pt x="2351654" y="0"/>
                    </a:lnTo>
                    <a:cubicBezTo>
                      <a:pt x="2355084" y="0"/>
                      <a:pt x="2358374" y="1363"/>
                      <a:pt x="2360800" y="3789"/>
                    </a:cubicBezTo>
                    <a:cubicBezTo>
                      <a:pt x="2363226" y="6214"/>
                      <a:pt x="2364588" y="9504"/>
                      <a:pt x="2364588" y="12935"/>
                    </a:cubicBezTo>
                    <a:lnTo>
                      <a:pt x="2364588" y="1841225"/>
                    </a:lnTo>
                    <a:cubicBezTo>
                      <a:pt x="2364588" y="1848368"/>
                      <a:pt x="2358797" y="1854159"/>
                      <a:pt x="2351654" y="1854159"/>
                    </a:cubicBezTo>
                    <a:lnTo>
                      <a:pt x="12935" y="1854159"/>
                    </a:lnTo>
                    <a:cubicBezTo>
                      <a:pt x="5791" y="1854159"/>
                      <a:pt x="0" y="1848368"/>
                      <a:pt x="0" y="1841225"/>
                    </a:cubicBezTo>
                    <a:lnTo>
                      <a:pt x="0" y="12935"/>
                    </a:lnTo>
                    <a:cubicBezTo>
                      <a:pt x="0" y="5791"/>
                      <a:pt x="5791" y="0"/>
                      <a:pt x="12935" y="0"/>
                    </a:cubicBezTo>
                    <a:close/>
                  </a:path>
                </a:pathLst>
              </a:custGeom>
              <a:solidFill>
                <a:srgbClr val="FF9D02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2364588" cy="18922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245236" y="481055"/>
              <a:ext cx="11743418" cy="9322385"/>
              <a:chOff x="0" y="0"/>
              <a:chExt cx="2319688" cy="1841459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319687" cy="1841459"/>
              </a:xfrm>
              <a:custGeom>
                <a:avLst/>
                <a:gdLst/>
                <a:ahLst/>
                <a:cxnLst/>
                <a:rect r="r" b="b" t="t" l="l"/>
                <a:pathLst>
                  <a:path h="1841459" w="2319687">
                    <a:moveTo>
                      <a:pt x="13185" y="0"/>
                    </a:moveTo>
                    <a:lnTo>
                      <a:pt x="2306502" y="0"/>
                    </a:lnTo>
                    <a:cubicBezTo>
                      <a:pt x="2313784" y="0"/>
                      <a:pt x="2319687" y="5903"/>
                      <a:pt x="2319687" y="13185"/>
                    </a:cubicBezTo>
                    <a:lnTo>
                      <a:pt x="2319687" y="1828274"/>
                    </a:lnTo>
                    <a:cubicBezTo>
                      <a:pt x="2319687" y="1831771"/>
                      <a:pt x="2318298" y="1835124"/>
                      <a:pt x="2315826" y="1837597"/>
                    </a:cubicBezTo>
                    <a:cubicBezTo>
                      <a:pt x="2313353" y="1840070"/>
                      <a:pt x="2309999" y="1841459"/>
                      <a:pt x="2306502" y="1841459"/>
                    </a:cubicBezTo>
                    <a:lnTo>
                      <a:pt x="13185" y="1841459"/>
                    </a:lnTo>
                    <a:cubicBezTo>
                      <a:pt x="5903" y="1841459"/>
                      <a:pt x="0" y="1835556"/>
                      <a:pt x="0" y="1828274"/>
                    </a:cubicBezTo>
                    <a:lnTo>
                      <a:pt x="0" y="13185"/>
                    </a:lnTo>
                    <a:cubicBezTo>
                      <a:pt x="0" y="5903"/>
                      <a:pt x="5903" y="0"/>
                      <a:pt x="13185" y="0"/>
                    </a:cubicBezTo>
                    <a:close/>
                  </a:path>
                </a:pathLst>
              </a:custGeom>
              <a:solidFill>
                <a:srgbClr val="FF9D02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2319688" cy="18795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123872" y="481055"/>
              <a:ext cx="11896592" cy="9386682"/>
              <a:chOff x="0" y="0"/>
              <a:chExt cx="2349944" cy="1854159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349944" cy="1854159"/>
              </a:xfrm>
              <a:custGeom>
                <a:avLst/>
                <a:gdLst/>
                <a:ahLst/>
                <a:cxnLst/>
                <a:rect r="r" b="b" t="t" l="l"/>
                <a:pathLst>
                  <a:path h="1854159" w="2349944">
                    <a:moveTo>
                      <a:pt x="13015" y="0"/>
                    </a:moveTo>
                    <a:lnTo>
                      <a:pt x="2336929" y="0"/>
                    </a:lnTo>
                    <a:cubicBezTo>
                      <a:pt x="2344117" y="0"/>
                      <a:pt x="2349944" y="5827"/>
                      <a:pt x="2349944" y="13015"/>
                    </a:cubicBezTo>
                    <a:lnTo>
                      <a:pt x="2349944" y="1841144"/>
                    </a:lnTo>
                    <a:cubicBezTo>
                      <a:pt x="2349944" y="1844596"/>
                      <a:pt x="2348573" y="1847906"/>
                      <a:pt x="2346132" y="1850347"/>
                    </a:cubicBezTo>
                    <a:cubicBezTo>
                      <a:pt x="2343691" y="1852788"/>
                      <a:pt x="2340381" y="1854159"/>
                      <a:pt x="2336929" y="1854159"/>
                    </a:cubicBezTo>
                    <a:lnTo>
                      <a:pt x="13015" y="1854159"/>
                    </a:lnTo>
                    <a:cubicBezTo>
                      <a:pt x="9563" y="1854159"/>
                      <a:pt x="6253" y="1852788"/>
                      <a:pt x="3812" y="1850347"/>
                    </a:cubicBezTo>
                    <a:cubicBezTo>
                      <a:pt x="1371" y="1847906"/>
                      <a:pt x="0" y="1844596"/>
                      <a:pt x="0" y="1841144"/>
                    </a:cubicBezTo>
                    <a:lnTo>
                      <a:pt x="0" y="13015"/>
                    </a:lnTo>
                    <a:cubicBezTo>
                      <a:pt x="0" y="9563"/>
                      <a:pt x="1371" y="6253"/>
                      <a:pt x="3812" y="3812"/>
                    </a:cubicBezTo>
                    <a:cubicBezTo>
                      <a:pt x="6253" y="1371"/>
                      <a:pt x="9563" y="0"/>
                      <a:pt x="13015" y="0"/>
                    </a:cubicBezTo>
                    <a:close/>
                  </a:path>
                </a:pathLst>
              </a:custGeom>
              <a:solidFill>
                <a:srgbClr val="FF9E00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2349944" cy="18922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8163174" y="29033"/>
              <a:ext cx="7929463" cy="4497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Models to Reduce RTO &amp; Recover Delivery Value</a:t>
              </a:r>
            </a:p>
          </p:txBody>
        </p:sp>
        <p:grpSp>
          <p:nvGrpSpPr>
            <p:cNvPr name="Group 18" id="18"/>
            <p:cNvGrpSpPr/>
            <p:nvPr/>
          </p:nvGrpSpPr>
          <p:grpSpPr>
            <a:xfrm rot="0">
              <a:off x="289605" y="605823"/>
              <a:ext cx="11584236" cy="7652985"/>
              <a:chOff x="0" y="0"/>
              <a:chExt cx="2288244" cy="1511701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288244" cy="1511701"/>
              </a:xfrm>
              <a:custGeom>
                <a:avLst/>
                <a:gdLst/>
                <a:ahLst/>
                <a:cxnLst/>
                <a:rect r="r" b="b" t="t" l="l"/>
                <a:pathLst>
                  <a:path h="1511701" w="2288244">
                    <a:moveTo>
                      <a:pt x="13366" y="0"/>
                    </a:moveTo>
                    <a:lnTo>
                      <a:pt x="2274878" y="0"/>
                    </a:lnTo>
                    <a:cubicBezTo>
                      <a:pt x="2278423" y="0"/>
                      <a:pt x="2281823" y="1408"/>
                      <a:pt x="2284329" y="3915"/>
                    </a:cubicBezTo>
                    <a:cubicBezTo>
                      <a:pt x="2286836" y="6422"/>
                      <a:pt x="2288244" y="9821"/>
                      <a:pt x="2288244" y="13366"/>
                    </a:cubicBezTo>
                    <a:lnTo>
                      <a:pt x="2288244" y="1498335"/>
                    </a:lnTo>
                    <a:cubicBezTo>
                      <a:pt x="2288244" y="1501880"/>
                      <a:pt x="2286836" y="1505279"/>
                      <a:pt x="2284329" y="1507786"/>
                    </a:cubicBezTo>
                    <a:cubicBezTo>
                      <a:pt x="2281823" y="1510293"/>
                      <a:pt x="2278423" y="1511701"/>
                      <a:pt x="2274878" y="1511701"/>
                    </a:cubicBezTo>
                    <a:lnTo>
                      <a:pt x="13366" y="1511701"/>
                    </a:lnTo>
                    <a:cubicBezTo>
                      <a:pt x="9821" y="1511701"/>
                      <a:pt x="6422" y="1510293"/>
                      <a:pt x="3915" y="1507786"/>
                    </a:cubicBezTo>
                    <a:cubicBezTo>
                      <a:pt x="1408" y="1505279"/>
                      <a:pt x="0" y="1501880"/>
                      <a:pt x="0" y="1498335"/>
                    </a:cubicBezTo>
                    <a:lnTo>
                      <a:pt x="0" y="13366"/>
                    </a:lnTo>
                    <a:cubicBezTo>
                      <a:pt x="0" y="9821"/>
                      <a:pt x="1408" y="6422"/>
                      <a:pt x="3915" y="3915"/>
                    </a:cubicBezTo>
                    <a:cubicBezTo>
                      <a:pt x="6422" y="1408"/>
                      <a:pt x="9821" y="0"/>
                      <a:pt x="1336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2288244" cy="15498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2247962" y="605823"/>
              <a:ext cx="11584236" cy="7652985"/>
              <a:chOff x="0" y="0"/>
              <a:chExt cx="2288244" cy="1511701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288244" cy="1511701"/>
              </a:xfrm>
              <a:custGeom>
                <a:avLst/>
                <a:gdLst/>
                <a:ahLst/>
                <a:cxnLst/>
                <a:rect r="r" b="b" t="t" l="l"/>
                <a:pathLst>
                  <a:path h="1511701" w="2288244">
                    <a:moveTo>
                      <a:pt x="13366" y="0"/>
                    </a:moveTo>
                    <a:lnTo>
                      <a:pt x="2274878" y="0"/>
                    </a:lnTo>
                    <a:cubicBezTo>
                      <a:pt x="2278423" y="0"/>
                      <a:pt x="2281823" y="1408"/>
                      <a:pt x="2284329" y="3915"/>
                    </a:cubicBezTo>
                    <a:cubicBezTo>
                      <a:pt x="2286836" y="6422"/>
                      <a:pt x="2288244" y="9821"/>
                      <a:pt x="2288244" y="13366"/>
                    </a:cubicBezTo>
                    <a:lnTo>
                      <a:pt x="2288244" y="1498335"/>
                    </a:lnTo>
                    <a:cubicBezTo>
                      <a:pt x="2288244" y="1501880"/>
                      <a:pt x="2286836" y="1505279"/>
                      <a:pt x="2284329" y="1507786"/>
                    </a:cubicBezTo>
                    <a:cubicBezTo>
                      <a:pt x="2281823" y="1510293"/>
                      <a:pt x="2278423" y="1511701"/>
                      <a:pt x="2274878" y="1511701"/>
                    </a:cubicBezTo>
                    <a:lnTo>
                      <a:pt x="13366" y="1511701"/>
                    </a:lnTo>
                    <a:cubicBezTo>
                      <a:pt x="9821" y="1511701"/>
                      <a:pt x="6422" y="1510293"/>
                      <a:pt x="3915" y="1507786"/>
                    </a:cubicBezTo>
                    <a:cubicBezTo>
                      <a:pt x="1408" y="1505279"/>
                      <a:pt x="0" y="1501880"/>
                      <a:pt x="0" y="1498335"/>
                    </a:cubicBezTo>
                    <a:lnTo>
                      <a:pt x="0" y="13366"/>
                    </a:lnTo>
                    <a:cubicBezTo>
                      <a:pt x="0" y="9821"/>
                      <a:pt x="1408" y="6422"/>
                      <a:pt x="3915" y="3915"/>
                    </a:cubicBezTo>
                    <a:cubicBezTo>
                      <a:pt x="6422" y="1408"/>
                      <a:pt x="9821" y="0"/>
                      <a:pt x="1336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2288244" cy="15498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289605" y="663575"/>
              <a:ext cx="11584236" cy="7205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MODEL 1 — RTO RISK ENGINE +</a:t>
              </a:r>
              <a:r>
                <a:rPr lang="en-US" b="true" sz="15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 PRE-DISPATCH INTERVENTION</a:t>
              </a:r>
            </a:p>
            <a:p>
              <a:pPr algn="ctr">
                <a:lnSpc>
                  <a:spcPts val="2239"/>
                </a:lnSpc>
                <a:spcBef>
                  <a:spcPct val="0"/>
                </a:spcBef>
              </a:pP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404417" y="1023836"/>
              <a:ext cx="9572355" cy="11432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6"/>
                </a:lnSpc>
              </a:pPr>
              <a:r>
                <a:rPr lang="en-US" sz="1404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What it is</a:t>
              </a:r>
            </a:p>
            <a:p>
              <a:pPr algn="l">
                <a:lnSpc>
                  <a:spcPts val="1686"/>
                </a:lnSpc>
                <a:spcBef>
                  <a:spcPct val="0"/>
                </a:spcBef>
              </a:pPr>
              <a:r>
                <a:rPr lang="en-US" sz="1204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 real-time m</a:t>
              </a:r>
              <a:r>
                <a:rPr lang="en-US" sz="1204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odel predicts the RTO probability of every COD order and triggers the cheapest effective intervention based on the risk level.</a:t>
              </a:r>
            </a:p>
            <a:p>
              <a:pPr algn="l">
                <a:lnSpc>
                  <a:spcPts val="1686"/>
                </a:lnSpc>
                <a:spcBef>
                  <a:spcPct val="0"/>
                </a:spcBef>
              </a:pP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404417" y="1981545"/>
              <a:ext cx="11584236" cy="25499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Execution Flow:</a:t>
              </a:r>
            </a:p>
            <a:p>
              <a:pPr algn="l" marL="259082" indent="-129541" lvl="1">
                <a:lnSpc>
                  <a:spcPts val="1680"/>
                </a:lnSpc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Order placed → COD order enters the RTO risk engine.</a:t>
              </a:r>
            </a:p>
            <a:p>
              <a:pPr algn="l" marL="259082" indent="-129541" lvl="1">
                <a:lnSpc>
                  <a:spcPts val="168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RTO risk sc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ore generated using customer, order, address and historical delivery signals.</a:t>
              </a:r>
            </a:p>
            <a:p>
              <a:pPr algn="l" marL="259082" indent="-129541" lvl="1">
                <a:lnSpc>
                  <a:spcPts val="168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Low risk → Normal COD journey.</a:t>
              </a:r>
            </a:p>
            <a:p>
              <a:pPr algn="l" marL="259082" indent="-129541" lvl="1">
                <a:lnSpc>
                  <a:spcPts val="168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Medium risk → WhatsApp confirmation + address/location verification.</a:t>
              </a:r>
            </a:p>
            <a:p>
              <a:pPr algn="l" marL="259082" indent="-129541" lvl="1">
                <a:lnSpc>
                  <a:spcPts val="168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High risk → ₹15 prepaid incentive / mandatory order confirmation.</a:t>
              </a:r>
            </a:p>
            <a:p>
              <a:pPr algn="l" marL="259082" indent="-129541" lvl="1">
                <a:lnSpc>
                  <a:spcPts val="168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Confirmed order → Seller dispatch → Valmo delivery.</a:t>
              </a:r>
            </a:p>
            <a:p>
              <a:pPr algn="l" marL="259082" indent="-129541" lvl="1">
                <a:lnSpc>
                  <a:spcPts val="168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Failed intervention → Order held/cancelled, avoiding an unnecessary ₹120 RTO cost.</a:t>
              </a:r>
            </a:p>
            <a:p>
              <a:pPr algn="l">
                <a:lnSpc>
                  <a:spcPts val="1680"/>
                </a:lnSpc>
                <a:spcBef>
                  <a:spcPct val="0"/>
                </a:spcBef>
              </a:pP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404417" y="4319778"/>
              <a:ext cx="11584236" cy="19911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Benefits:</a:t>
              </a:r>
            </a:p>
            <a:p>
              <a:pPr algn="l" marL="259082" indent="-129541" lvl="1">
                <a:lnSpc>
                  <a:spcPts val="168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Targets high risk COD 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orders instead of adding friction to all customers.</a:t>
              </a:r>
            </a:p>
            <a:p>
              <a:pPr algn="l" marL="259082" indent="-129541" lvl="1">
                <a:lnSpc>
                  <a:spcPts val="168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Converts selected COD orders to prepaid, reducing RTO exposure.</a:t>
              </a:r>
            </a:p>
            <a:p>
              <a:pPr algn="l" marL="259082" indent="-129541" lvl="1">
                <a:lnSpc>
                  <a:spcPts val="168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Improves address quality and first attempt delivery success.</a:t>
              </a:r>
            </a:p>
            <a:p>
              <a:pPr algn="l" marL="259082" indent="-129541" lvl="1">
                <a:lnSpc>
                  <a:spcPts val="168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Preserves COD accessibility for reliable customers.</a:t>
              </a:r>
            </a:p>
            <a:p>
              <a:pPr algn="l" marL="259082" indent="-129541" lvl="1">
                <a:lnSpc>
                  <a:spcPts val="168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Makes interventions economically viable by comparing ₹15 intervention cost vs. ₹120 expected RTO loss.</a:t>
              </a:r>
            </a:p>
            <a:p>
              <a:pPr algn="l">
                <a:lnSpc>
                  <a:spcPts val="1680"/>
                </a:lnSpc>
                <a:spcBef>
                  <a:spcPct val="0"/>
                </a:spcBef>
              </a:pP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404417" y="6115818"/>
              <a:ext cx="11584236" cy="22705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59"/>
                </a:lnSpc>
                <a:spcBef>
                  <a:spcPct val="0"/>
                </a:spcBef>
              </a:pPr>
              <a:r>
                <a:rPr lang="en-US" b="true" sz="13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Bottlenecks and S</a:t>
              </a:r>
              <a:r>
                <a:rPr lang="en-US" b="true" sz="13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olutions:</a:t>
              </a:r>
            </a:p>
            <a:p>
              <a:pPr algn="l" marL="259080" indent="-129540" lvl="1">
                <a:lnSpc>
                  <a:spcPts val="16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False positives → Continuously track intervention conversion, cancellations and customer complaints.</a:t>
              </a:r>
            </a:p>
            <a:p>
              <a:pPr algn="l" marL="259080" indent="-129540" lvl="1">
                <a:lnSpc>
                  <a:spcPts val="16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₹15 incentive economics → Trigger only when expected RTO loss &gt; intervention cost.</a:t>
              </a:r>
            </a:p>
            <a:p>
              <a:pPr algn="l" marL="259080" indent="-129540" lvl="1">
                <a:lnSpc>
                  <a:spcPts val="16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Customer friction → Use single click WhatsApp confirmation with minimal additional steps.</a:t>
              </a:r>
            </a:p>
            <a:p>
              <a:pPr algn="l" marL="259080" indent="-129540" lvl="1">
                <a:lnSpc>
                  <a:spcPts val="16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Model bias / cold start → Retrain using actual RTO outcomes and use broader order/address signals where customer history is limited.</a:t>
              </a:r>
            </a:p>
            <a:p>
              <a:pPr algn="l" marL="259080" indent="-129540" lvl="1">
                <a:lnSpc>
                  <a:spcPts val="16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Intervention failure → Escalate only high-risk orders to stronger confirmation or prepaid conversion.</a:t>
              </a:r>
            </a:p>
            <a:p>
              <a:pPr algn="l">
                <a:lnSpc>
                  <a:spcPts val="1679"/>
                </a:lnSpc>
                <a:spcBef>
                  <a:spcPct val="0"/>
                </a:spcBef>
              </a:pP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12291983" y="700197"/>
              <a:ext cx="11584236" cy="342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</a:t>
              </a:r>
              <a:r>
                <a:rPr lang="en-US" b="true" sz="15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odel 2 – RTO Interception + Local Re-commerce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12374348" y="1014311"/>
              <a:ext cx="11331464" cy="11529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959"/>
                </a:lnSpc>
              </a:pPr>
              <a:r>
                <a:rPr lang="en-US" sz="13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What it is:</a:t>
              </a:r>
            </a:p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Instead 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of automatically sending refused shipments back through the reverse network, eligible products remain at </a:t>
              </a:r>
            </a:p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the destination LMDC and are matched with nearby demand.</a:t>
              </a:r>
            </a:p>
            <a:p>
              <a:pPr algn="just">
                <a:lnSpc>
                  <a:spcPts val="1679"/>
                </a:lnSpc>
                <a:spcBef>
                  <a:spcPct val="0"/>
                </a:spcBef>
              </a:pP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12374348" y="1979511"/>
              <a:ext cx="5485386" cy="25499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59"/>
                </a:lnSpc>
                <a:spcBef>
                  <a:spcPct val="0"/>
                </a:spcBef>
              </a:pPr>
              <a:r>
                <a:rPr lang="en-US" b="true" sz="13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Executi</a:t>
              </a:r>
              <a:r>
                <a:rPr lang="en-US" b="true" sz="13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on Flow:</a:t>
              </a:r>
            </a:p>
            <a:p>
              <a:pPr algn="l" marL="259080" indent="-129540" lvl="1">
                <a:lnSpc>
                  <a:spcPts val="16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Customer refuses delivery.</a:t>
              </a:r>
            </a:p>
            <a:p>
              <a:pPr algn="l" marL="259080" indent="-129540" lvl="1">
                <a:lnSpc>
                  <a:spcPts val="16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Shipment reaches the destination LMDC.</a:t>
              </a:r>
            </a:p>
            <a:p>
              <a:pPr algn="l" marL="259080" indent="-129540" lvl="1">
                <a:lnSpc>
                  <a:spcPts val="16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Product eligibility and condition check.</a:t>
              </a:r>
            </a:p>
            <a:p>
              <a:pPr algn="l" marL="259080" indent="-129540" lvl="1">
                <a:lnSpc>
                  <a:spcPts val="16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Nearby customer demand identified.</a:t>
              </a:r>
            </a:p>
            <a:p>
              <a:pPr algn="l" marL="259080" indent="-129540" lvl="1">
                <a:lnSpc>
                  <a:spcPts val="16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Match found → Offer targeted 15–20% discount.</a:t>
              </a:r>
            </a:p>
            <a:p>
              <a:pPr algn="l" marL="259080" indent="-129540" lvl="1">
                <a:lnSpc>
                  <a:spcPts val="16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Product delivered to a new nearby customer.</a:t>
              </a:r>
            </a:p>
            <a:p>
              <a:pPr algn="l" marL="259080" indent="-129540" lvl="1">
                <a:lnSpc>
                  <a:spcPts val="16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No match → Proceed with normal RTO.</a:t>
              </a:r>
            </a:p>
            <a:p>
              <a:pPr algn="l">
                <a:lnSpc>
                  <a:spcPts val="1679"/>
                </a:lnSpc>
                <a:spcBef>
                  <a:spcPct val="0"/>
                </a:spcBef>
              </a:pP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12374348" y="4319778"/>
              <a:ext cx="11584236" cy="19911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59"/>
                </a:lnSpc>
              </a:pPr>
              <a:r>
                <a:rPr lang="en-US" sz="13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Benefits:</a:t>
              </a:r>
            </a:p>
            <a:p>
              <a:pPr algn="l" marL="259080" indent="-129540" lvl="1">
                <a:lnSpc>
                  <a:spcPts val="16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El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iminates unnecessary reverse line haul.</a:t>
              </a:r>
            </a:p>
            <a:p>
              <a:pPr algn="l" marL="259080" indent="-129540" lvl="1">
                <a:lnSpc>
                  <a:spcPts val="16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Reduces inventory transit and handling.</a:t>
              </a:r>
            </a:p>
            <a:p>
              <a:pPr algn="l" marL="259080" indent="-129540" lvl="1">
                <a:lnSpc>
                  <a:spcPts val="16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Recovers value from refused shipments.</a:t>
              </a:r>
            </a:p>
            <a:p>
              <a:pPr algn="l" marL="259080" indent="-129540" lvl="1">
                <a:lnSpc>
                  <a:spcPts val="16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Converts RTO inventory into local inventory.</a:t>
              </a:r>
            </a:p>
            <a:p>
              <a:pPr algn="l" marL="259080" indent="-129540" lvl="1">
                <a:lnSpc>
                  <a:spcPts val="16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Potentially reduces the ₹120 RTO cost.</a:t>
              </a:r>
            </a:p>
            <a:p>
              <a:pPr algn="l">
                <a:lnSpc>
                  <a:spcPts val="1679"/>
                </a:lnSpc>
                <a:spcBef>
                  <a:spcPct val="0"/>
                </a:spcBef>
              </a:pP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12374348" y="6115818"/>
              <a:ext cx="11584236" cy="25499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59"/>
                </a:lnSpc>
                <a:spcBef>
                  <a:spcPct val="0"/>
                </a:spcBef>
              </a:pPr>
              <a:r>
                <a:rPr lang="en-US" b="true" sz="13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Bottlenecks and S</a:t>
              </a:r>
              <a:r>
                <a:rPr lang="en-US" b="true" sz="13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olutions:</a:t>
              </a:r>
            </a:p>
            <a:p>
              <a:pPr algn="l" marL="259080" indent="-129540" lvl="1">
                <a:lnSpc>
                  <a:spcPts val="16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Product damaged/opened → Eligibility inspection before relisting.</a:t>
              </a:r>
            </a:p>
            <a:p>
              <a:pPr algn="l" marL="259080" indent="-129540" lvl="1">
                <a:lnSpc>
                  <a:spcPts val="16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No local demand → Route the shipment through the normal RTO process.</a:t>
              </a:r>
            </a:p>
            <a:p>
              <a:pPr algn="l" marL="259080" indent="-129540" lvl="1">
                <a:lnSpc>
                  <a:spcPts val="16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Merchant doesn't want resale → Make local recommerce merchant opt in.</a:t>
              </a:r>
            </a:p>
            <a:p>
              <a:pPr algn="l" marL="259080" indent="-129540" lvl="1">
                <a:lnSpc>
                  <a:spcPts val="16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Customer distrust → Maintain Meesho's existing quality and review layer.</a:t>
              </a:r>
            </a:p>
            <a:p>
              <a:pPr algn="l" marL="259080" indent="-129540" lvl="1">
                <a:lnSpc>
                  <a:spcPts val="16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Inventory mismatch → Use local demand prediction + SKU matching.</a:t>
              </a:r>
            </a:p>
            <a:p>
              <a:pPr algn="l">
                <a:lnSpc>
                  <a:spcPts val="1679"/>
                </a:lnSpc>
                <a:spcBef>
                  <a:spcPct val="0"/>
                </a:spcBef>
              </a:pPr>
            </a:p>
            <a:p>
              <a:pPr algn="l">
                <a:lnSpc>
                  <a:spcPts val="1679"/>
                </a:lnSpc>
                <a:spcBef>
                  <a:spcPct val="0"/>
                </a:spcBef>
              </a:pPr>
            </a:p>
            <a:p>
              <a:pPr algn="l">
                <a:lnSpc>
                  <a:spcPts val="1679"/>
                </a:lnSpc>
                <a:spcBef>
                  <a:spcPct val="0"/>
                </a:spcBef>
              </a:pPr>
            </a:p>
          </p:txBody>
        </p:sp>
        <p:grpSp>
          <p:nvGrpSpPr>
            <p:cNvPr name="Group 34" id="34"/>
            <p:cNvGrpSpPr/>
            <p:nvPr/>
          </p:nvGrpSpPr>
          <p:grpSpPr>
            <a:xfrm rot="0">
              <a:off x="12247962" y="8323102"/>
              <a:ext cx="11628257" cy="1419418"/>
              <a:chOff x="0" y="0"/>
              <a:chExt cx="2296940" cy="280379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2296940" cy="280379"/>
              </a:xfrm>
              <a:custGeom>
                <a:avLst/>
                <a:gdLst/>
                <a:ahLst/>
                <a:cxnLst/>
                <a:rect r="r" b="b" t="t" l="l"/>
                <a:pathLst>
                  <a:path h="280379" w="2296940">
                    <a:moveTo>
                      <a:pt x="13316" y="0"/>
                    </a:moveTo>
                    <a:lnTo>
                      <a:pt x="2283624" y="0"/>
                    </a:lnTo>
                    <a:cubicBezTo>
                      <a:pt x="2287156" y="0"/>
                      <a:pt x="2290542" y="1403"/>
                      <a:pt x="2293039" y="3900"/>
                    </a:cubicBezTo>
                    <a:cubicBezTo>
                      <a:pt x="2295537" y="6397"/>
                      <a:pt x="2296940" y="9784"/>
                      <a:pt x="2296940" y="13316"/>
                    </a:cubicBezTo>
                    <a:lnTo>
                      <a:pt x="2296940" y="267063"/>
                    </a:lnTo>
                    <a:cubicBezTo>
                      <a:pt x="2296940" y="270595"/>
                      <a:pt x="2295537" y="273982"/>
                      <a:pt x="2293039" y="276479"/>
                    </a:cubicBezTo>
                    <a:cubicBezTo>
                      <a:pt x="2290542" y="278976"/>
                      <a:pt x="2287156" y="280379"/>
                      <a:pt x="2283624" y="280379"/>
                    </a:cubicBezTo>
                    <a:lnTo>
                      <a:pt x="13316" y="280379"/>
                    </a:lnTo>
                    <a:cubicBezTo>
                      <a:pt x="9784" y="280379"/>
                      <a:pt x="6397" y="278976"/>
                      <a:pt x="3900" y="276479"/>
                    </a:cubicBezTo>
                    <a:cubicBezTo>
                      <a:pt x="1403" y="273982"/>
                      <a:pt x="0" y="270595"/>
                      <a:pt x="0" y="267063"/>
                    </a:cubicBezTo>
                    <a:lnTo>
                      <a:pt x="0" y="13316"/>
                    </a:lnTo>
                    <a:cubicBezTo>
                      <a:pt x="0" y="9784"/>
                      <a:pt x="1403" y="6397"/>
                      <a:pt x="3900" y="3900"/>
                    </a:cubicBezTo>
                    <a:cubicBezTo>
                      <a:pt x="6397" y="1403"/>
                      <a:pt x="9784" y="0"/>
                      <a:pt x="1331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2296940" cy="318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289605" y="8323102"/>
              <a:ext cx="11584236" cy="1419418"/>
              <a:chOff x="0" y="0"/>
              <a:chExt cx="2288244" cy="280379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2288244" cy="280379"/>
              </a:xfrm>
              <a:custGeom>
                <a:avLst/>
                <a:gdLst/>
                <a:ahLst/>
                <a:cxnLst/>
                <a:rect r="r" b="b" t="t" l="l"/>
                <a:pathLst>
                  <a:path h="280379" w="2288244">
                    <a:moveTo>
                      <a:pt x="13366" y="0"/>
                    </a:moveTo>
                    <a:lnTo>
                      <a:pt x="2274878" y="0"/>
                    </a:lnTo>
                    <a:cubicBezTo>
                      <a:pt x="2278423" y="0"/>
                      <a:pt x="2281823" y="1408"/>
                      <a:pt x="2284329" y="3915"/>
                    </a:cubicBezTo>
                    <a:cubicBezTo>
                      <a:pt x="2286836" y="6422"/>
                      <a:pt x="2288244" y="9821"/>
                      <a:pt x="2288244" y="13366"/>
                    </a:cubicBezTo>
                    <a:lnTo>
                      <a:pt x="2288244" y="267013"/>
                    </a:lnTo>
                    <a:cubicBezTo>
                      <a:pt x="2288244" y="270558"/>
                      <a:pt x="2286836" y="273957"/>
                      <a:pt x="2284329" y="276464"/>
                    </a:cubicBezTo>
                    <a:cubicBezTo>
                      <a:pt x="2281823" y="278971"/>
                      <a:pt x="2278423" y="280379"/>
                      <a:pt x="2274878" y="280379"/>
                    </a:cubicBezTo>
                    <a:lnTo>
                      <a:pt x="13366" y="280379"/>
                    </a:lnTo>
                    <a:cubicBezTo>
                      <a:pt x="9821" y="280379"/>
                      <a:pt x="6422" y="278971"/>
                      <a:pt x="3915" y="276464"/>
                    </a:cubicBezTo>
                    <a:cubicBezTo>
                      <a:pt x="1408" y="273957"/>
                      <a:pt x="0" y="270558"/>
                      <a:pt x="0" y="267013"/>
                    </a:cubicBezTo>
                    <a:lnTo>
                      <a:pt x="0" y="13366"/>
                    </a:lnTo>
                    <a:cubicBezTo>
                      <a:pt x="0" y="9821"/>
                      <a:pt x="1408" y="6422"/>
                      <a:pt x="3915" y="3915"/>
                    </a:cubicBezTo>
                    <a:cubicBezTo>
                      <a:pt x="6422" y="1408"/>
                      <a:pt x="9821" y="0"/>
                      <a:pt x="1336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2288244" cy="318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sp>
          <p:nvSpPr>
            <p:cNvPr name="Freeform 40" id="40"/>
            <p:cNvSpPr/>
            <p:nvPr/>
          </p:nvSpPr>
          <p:spPr>
            <a:xfrm flipH="false" flipV="false" rot="0">
              <a:off x="12374348" y="8386366"/>
              <a:ext cx="1263912" cy="1328570"/>
            </a:xfrm>
            <a:custGeom>
              <a:avLst/>
              <a:gdLst/>
              <a:ahLst/>
              <a:cxnLst/>
              <a:rect r="r" b="b" t="t" l="l"/>
              <a:pathLst>
                <a:path h="1328570" w="1263912">
                  <a:moveTo>
                    <a:pt x="0" y="0"/>
                  </a:moveTo>
                  <a:lnTo>
                    <a:pt x="1263912" y="0"/>
                  </a:lnTo>
                  <a:lnTo>
                    <a:pt x="1263912" y="1328570"/>
                  </a:lnTo>
                  <a:lnTo>
                    <a:pt x="0" y="1328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13532" t="-11126" r="-528591" b="-1143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 rot="0">
              <a:off x="404417" y="8357791"/>
              <a:ext cx="10768407" cy="17117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59"/>
                </a:lnSpc>
              </a:pPr>
              <a:r>
                <a:rPr lang="en-US" sz="13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Critical Thinking &amp; Fit</a:t>
              </a:r>
            </a:p>
            <a:p>
              <a:pPr algn="l">
                <a:lnSpc>
                  <a:spcPts val="1679"/>
                </a:lnSpc>
                <a:spcBef>
                  <a:spcPct val="0"/>
                </a:spcBef>
              </a:pPr>
              <a:r>
                <a:rPr lang="en-US" b="true" sz="1200" i="true">
                  <a:solidFill>
                    <a:srgbClr val="000000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P</a:t>
              </a:r>
              <a:r>
                <a:rPr lang="en-US" b="true" sz="1200" i="true">
                  <a:solidFill>
                    <a:srgbClr val="000000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reventive Layer: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Model 1 reduces RTO through targeted pre dispatch intervention.</a:t>
              </a:r>
            </a:p>
            <a:p>
              <a:pPr algn="l">
                <a:lnSpc>
                  <a:spcPts val="1679"/>
                </a:lnSpc>
                <a:spcBef>
                  <a:spcPct val="0"/>
                </a:spcBef>
              </a:pPr>
              <a:r>
                <a:rPr lang="en-US" b="true" sz="1200" i="true">
                  <a:solidFill>
                    <a:srgbClr val="000000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Recovery Layer: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Model 2 reduces the economic impact of unavoidable RTO through local recommerce.</a:t>
              </a:r>
            </a:p>
            <a:p>
              <a:pPr algn="l">
                <a:lnSpc>
                  <a:spcPts val="1679"/>
                </a:lnSpc>
                <a:spcBef>
                  <a:spcPct val="0"/>
                </a:spcBef>
              </a:pPr>
              <a:r>
                <a:rPr lang="en-US" b="true" sz="1200" i="true">
                  <a:solidFill>
                    <a:srgbClr val="000000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Strategic Fit:</a:t>
              </a:r>
              <a:r>
                <a:rPr lang="en-US" sz="1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Both leverage COD data, Valmo's LMDC network, WhatsApp, and local delivery infrastructure.</a:t>
              </a:r>
            </a:p>
            <a:p>
              <a:pPr algn="l">
                <a:lnSpc>
                  <a:spcPts val="1679"/>
                </a:lnSpc>
                <a:spcBef>
                  <a:spcPct val="0"/>
                </a:spcBef>
              </a:pPr>
            </a:p>
            <a:p>
              <a:pPr algn="l">
                <a:lnSpc>
                  <a:spcPts val="1679"/>
                </a:lnSpc>
                <a:spcBef>
                  <a:spcPct val="0"/>
                </a:spcBef>
              </a:pP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13711535" y="8497143"/>
              <a:ext cx="9994277" cy="10784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59"/>
                </a:lnSpc>
                <a:spcBef>
                  <a:spcPct val="0"/>
                </a:spcBef>
              </a:pPr>
              <a:r>
                <a:rPr lang="en-US" b="true" sz="13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KPIs f</a:t>
              </a:r>
              <a:r>
                <a:rPr lang="en-US" b="true" sz="13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or Success</a:t>
              </a:r>
            </a:p>
            <a:p>
              <a:pPr algn="l">
                <a:lnSpc>
                  <a:spcPts val="1540"/>
                </a:lnSpc>
                <a:spcBef>
                  <a:spcPct val="0"/>
                </a:spcBef>
              </a:pPr>
              <a:r>
                <a:rPr lang="en-US" sz="1100" i="true">
                  <a:solidFill>
                    <a:srgbClr val="000000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Model 1 → </a:t>
              </a:r>
              <a:r>
                <a:rPr lang="en-US" b="true" sz="1100" i="true">
                  <a:solidFill>
                    <a:srgbClr val="000000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RTO ↓</a:t>
              </a:r>
              <a:r>
                <a:rPr lang="en-US" sz="1100" i="true">
                  <a:solidFill>
                    <a:srgbClr val="000000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 • COD→Prepaid • Confirm % • 1st-attempt delivery % • RTO cost avoided • Net savings/order</a:t>
              </a:r>
            </a:p>
            <a:p>
              <a:pPr algn="l">
                <a:lnSpc>
                  <a:spcPts val="1540"/>
                </a:lnSpc>
                <a:spcBef>
                  <a:spcPct val="0"/>
                </a:spcBef>
              </a:pPr>
              <a:r>
                <a:rPr lang="en-US" sz="1100" i="true">
                  <a:solidFill>
                    <a:srgbClr val="000000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Model 2 → </a:t>
              </a:r>
              <a:r>
                <a:rPr lang="en-US" b="true" sz="1100" i="true">
                  <a:solidFill>
                    <a:srgbClr val="000000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RTO intercepted % </a:t>
              </a:r>
              <a:r>
                <a:rPr lang="en-US" sz="1100" i="true">
                  <a:solidFill>
                    <a:srgbClr val="000000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• Re-commerce % • Recovery/RTO • Reverse cost avoided • Delivery success % • Net savings/RTO</a:t>
              </a:r>
            </a:p>
          </p:txBody>
        </p:sp>
        <p:sp>
          <p:nvSpPr>
            <p:cNvPr name="Freeform 43" id="43"/>
            <p:cNvSpPr/>
            <p:nvPr/>
          </p:nvSpPr>
          <p:spPr>
            <a:xfrm flipH="false" flipV="false" rot="0">
              <a:off x="9438009" y="2189810"/>
              <a:ext cx="2219105" cy="3440473"/>
            </a:xfrm>
            <a:custGeom>
              <a:avLst/>
              <a:gdLst/>
              <a:ahLst/>
              <a:cxnLst/>
              <a:rect r="r" b="b" t="t" l="l"/>
              <a:pathLst>
                <a:path h="3440473" w="2219105">
                  <a:moveTo>
                    <a:pt x="0" y="0"/>
                  </a:moveTo>
                  <a:lnTo>
                    <a:pt x="2219104" y="0"/>
                  </a:lnTo>
                  <a:lnTo>
                    <a:pt x="2219104" y="3440473"/>
                  </a:lnTo>
                  <a:lnTo>
                    <a:pt x="0" y="34404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21285486" y="5034770"/>
              <a:ext cx="1669170" cy="2510030"/>
            </a:xfrm>
            <a:custGeom>
              <a:avLst/>
              <a:gdLst/>
              <a:ahLst/>
              <a:cxnLst/>
              <a:rect r="r" b="b" t="t" l="l"/>
              <a:pathLst>
                <a:path h="2510030" w="1669170">
                  <a:moveTo>
                    <a:pt x="0" y="0"/>
                  </a:moveTo>
                  <a:lnTo>
                    <a:pt x="1669170" y="0"/>
                  </a:lnTo>
                  <a:lnTo>
                    <a:pt x="1669170" y="2510030"/>
                  </a:lnTo>
                  <a:lnTo>
                    <a:pt x="0" y="25100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5" id="45"/>
            <p:cNvSpPr/>
            <p:nvPr/>
          </p:nvSpPr>
          <p:spPr>
            <a:xfrm flipH="false" flipV="false" rot="1316887">
              <a:off x="18883090" y="4321747"/>
              <a:ext cx="2589640" cy="1994023"/>
            </a:xfrm>
            <a:custGeom>
              <a:avLst/>
              <a:gdLst/>
              <a:ahLst/>
              <a:cxnLst/>
              <a:rect r="r" b="b" t="t" l="l"/>
              <a:pathLst>
                <a:path h="1994023" w="2589640">
                  <a:moveTo>
                    <a:pt x="0" y="0"/>
                  </a:moveTo>
                  <a:lnTo>
                    <a:pt x="2589640" y="0"/>
                  </a:lnTo>
                  <a:lnTo>
                    <a:pt x="2589640" y="1994023"/>
                  </a:lnTo>
                  <a:lnTo>
                    <a:pt x="0" y="19940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17917050" y="2358276"/>
              <a:ext cx="3211753" cy="2232168"/>
            </a:xfrm>
            <a:custGeom>
              <a:avLst/>
              <a:gdLst/>
              <a:ahLst/>
              <a:cxnLst/>
              <a:rect r="r" b="b" t="t" l="l"/>
              <a:pathLst>
                <a:path h="2232168" w="3211753">
                  <a:moveTo>
                    <a:pt x="0" y="0"/>
                  </a:moveTo>
                  <a:lnTo>
                    <a:pt x="3211752" y="0"/>
                  </a:lnTo>
                  <a:lnTo>
                    <a:pt x="3211752" y="2232168"/>
                  </a:lnTo>
                  <a:lnTo>
                    <a:pt x="0" y="2232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DAHU5pLZu9k</dc:identifier>
  <dcterms:modified xsi:type="dcterms:W3CDTF">2011-08-01T06:04:30Z</dcterms:modified>
  <cp:revision>1</cp:revision>
  <dc:title>PotentiallyBald_IIT Dhanbad</dc:title>
</cp:coreProperties>
</file>